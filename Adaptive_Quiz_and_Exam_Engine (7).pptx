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rgbClr val="F5F2F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image" Target="../media/image-10-6.jp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5" Type="http://schemas.openxmlformats.org/officeDocument/2006/relationships/hyperlink" Target="https://github.com/Akshitha1249" TargetMode="External"/><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jpg"/><Relationship Id="rId4" Type="http://schemas.openxmlformats.org/officeDocument/2006/relationships/image" Target="../media/image-11-4.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Cover panel"/>
          <p:cNvSpPr/>
          <p:nvPr/>
        </p:nvSpPr>
        <p:spPr>
          <a:xfrm>
            <a:off x="5669280" y="457200"/>
            <a:ext cx="3017520" cy="4229100"/>
          </a:xfrm>
          <a:prstGeom prst="roundRect">
            <a:avLst>
              <a:gd name="adj" fmla="val 7576"/>
            </a:avLst>
          </a:prstGeom>
          <a:solidFill>
            <a:srgbClr val="5B4B8A"/>
          </a:solidFill>
          <a:ln w="381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llustration of an online quiz on a laptop with books">    </p:cNvPr>
          <p:cNvPicPr>
            <a:picLocks noChangeAspect="1"/>
          </p:cNvPicPr>
          <p:nvPr/>
        </p:nvPicPr>
        <p:blipFill>
          <a:blip r:embed="rId2"/>
          <a:stretch>
            <a:fillRect/>
          </a:stretch>
        </p:blipFill>
        <p:spPr>
          <a:xfrm>
            <a:off x="5669280" y="457200"/>
            <a:ext cx="3017520" cy="4229100"/>
          </a:xfrm>
          <a:prstGeom prst="rect">
            <a:avLst/>
          </a:prstGeom>
        </p:spPr>
      </p:pic>
      <p:sp>
        <p:nvSpPr>
          <p:cNvPr id="4" name="Text 1"/>
          <p:cNvSpPr txBox="1"/>
          <p:nvPr/>
        </p:nvSpPr>
        <p:spPr>
          <a:xfrm>
            <a:off x="548640" y="822960"/>
            <a:ext cx="4572000" cy="320040"/>
          </a:xfrm>
          <a:prstGeom prst="rect">
            <a:avLst/>
          </a:prstGeom>
          <a:noFill/>
          <a:ln/>
        </p:spPr>
        <p:txBody>
          <a:bodyPr wrap="square" lIns="0" tIns="0" rIns="0" bIns="0" rtlCol="0" anchor="ctr"/>
          <a:lstStyle/>
          <a:p>
            <a:pPr indent="0" marL="0">
              <a:buNone/>
            </a:pPr>
            <a:r>
              <a:rPr lang="en-US" sz="1400" b="1" spc="300" kern="0" dirty="0">
                <a:solidFill>
                  <a:srgbClr val="8E7CC3"/>
                </a:solidFill>
                <a:latin typeface="Calibri" pitchFamily="34" charset="0"/>
                <a:ea typeface="Calibri" pitchFamily="34" charset="-122"/>
                <a:cs typeface="Calibri" pitchFamily="34" charset="-120"/>
              </a:rPr>
              <a:t>PROJECT PRESENTATION</a:t>
            </a:r>
            <a:endParaRPr lang="en-US" sz="1400" dirty="0"/>
          </a:p>
        </p:txBody>
      </p:sp>
      <p:sp>
        <p:nvSpPr>
          <p:cNvPr id="5" name="Text 2"/>
          <p:cNvSpPr txBox="1"/>
          <p:nvPr/>
        </p:nvSpPr>
        <p:spPr>
          <a:xfrm>
            <a:off x="548640" y="1234440"/>
            <a:ext cx="4846320" cy="1645920"/>
          </a:xfrm>
          <a:prstGeom prst="rect">
            <a:avLst/>
          </a:prstGeom>
          <a:noFill/>
          <a:ln/>
        </p:spPr>
        <p:txBody>
          <a:bodyPr wrap="square" lIns="0" tIns="0" rIns="0" bIns="0" rtlCol="0" anchor="t"/>
          <a:lstStyle/>
          <a:p>
            <a:pPr indent="0" marL="0">
              <a:buNone/>
            </a:pPr>
            <a:r>
              <a:rPr lang="en-US" sz="3800" b="1" dirty="0">
                <a:solidFill>
                  <a:srgbClr val="5B4B8A"/>
                </a:solidFill>
                <a:latin typeface="Cambria" pitchFamily="34" charset="0"/>
                <a:ea typeface="Cambria" pitchFamily="34" charset="-122"/>
                <a:cs typeface="Cambria" pitchFamily="34" charset="-120"/>
              </a:rPr>
              <a:t>Adaptive Quiz and Exam Engine</a:t>
            </a:r>
            <a:endParaRPr lang="en-US" sz="3800" dirty="0"/>
          </a:p>
        </p:txBody>
      </p:sp>
      <p:sp>
        <p:nvSpPr>
          <p:cNvPr id="6" name="Names card"/>
          <p:cNvSpPr/>
          <p:nvPr/>
        </p:nvSpPr>
        <p:spPr>
          <a:xfrm>
            <a:off x="548640" y="3017520"/>
            <a:ext cx="4754880" cy="1234440"/>
          </a:xfrm>
          <a:prstGeom prst="roundRect">
            <a:avLst>
              <a:gd name="adj" fmla="val 8889"/>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7" name="Text 4"/>
          <p:cNvSpPr txBox="1"/>
          <p:nvPr/>
        </p:nvSpPr>
        <p:spPr>
          <a:xfrm>
            <a:off x="777240" y="3108960"/>
            <a:ext cx="4297680" cy="274320"/>
          </a:xfrm>
          <a:prstGeom prst="rect">
            <a:avLst/>
          </a:prstGeom>
          <a:noFill/>
          <a:ln/>
        </p:spPr>
        <p:txBody>
          <a:bodyPr wrap="square" lIns="0" tIns="0" rIns="0" bIns="0" rtlCol="0" anchor="ctr"/>
          <a:lstStyle/>
          <a:p>
            <a:pPr indent="0" marL="0">
              <a:buNone/>
            </a:pPr>
            <a:r>
              <a:rPr lang="en-US" sz="1200" dirty="0">
                <a:solidFill>
                  <a:srgbClr val="6E6889"/>
                </a:solidFill>
                <a:latin typeface="Calibri" pitchFamily="34" charset="0"/>
                <a:ea typeface="Calibri" pitchFamily="34" charset="-122"/>
                <a:cs typeface="Calibri" pitchFamily="34" charset="-120"/>
              </a:rPr>
              <a:t>Presented by</a:t>
            </a:r>
            <a:endParaRPr lang="en-US" sz="1200" dirty="0"/>
          </a:p>
        </p:txBody>
      </p:sp>
      <p:sp>
        <p:nvSpPr>
          <p:cNvPr id="8" name="Text 5"/>
          <p:cNvSpPr txBox="1"/>
          <p:nvPr/>
        </p:nvSpPr>
        <p:spPr>
          <a:xfrm>
            <a:off x="777240" y="3401568"/>
            <a:ext cx="4389120" cy="731520"/>
          </a:xfrm>
          <a:prstGeom prst="rect">
            <a:avLst/>
          </a:prstGeom>
          <a:noFill/>
          <a:ln/>
        </p:spPr>
        <p:txBody>
          <a:bodyPr wrap="square" lIns="0" tIns="0" rIns="0" bIns="0" rtlCol="0" anchor="t"/>
          <a:lstStyle/>
          <a:p>
            <a:pPr indent="0" marL="0">
              <a:spcAft>
                <a:spcPts val="500"/>
              </a:spcAft>
              <a:buNone/>
            </a:pPr>
            <a:r>
              <a:rPr lang="en-US" sz="1600" b="1" dirty="0">
                <a:solidFill>
                  <a:srgbClr val="2E2A45"/>
                </a:solidFill>
                <a:latin typeface="Calibri" pitchFamily="34" charset="0"/>
                <a:ea typeface="Calibri" pitchFamily="34" charset="-122"/>
                <a:cs typeface="Calibri" pitchFamily="34" charset="-120"/>
              </a:rPr>
              <a:t>P. V. Srisukta Hiranmayi - 2620030019</a:t>
            </a:r>
            <a:endParaRPr lang="en-US" sz="1600" dirty="0"/>
          </a:p>
          <a:p>
            <a:pPr indent="0" marL="0">
              <a:spcAft>
                <a:spcPts val="500"/>
              </a:spcAft>
              <a:buNone/>
            </a:pPr>
            <a:r>
              <a:rPr lang="en-US" sz="1600" b="1" dirty="0">
                <a:solidFill>
                  <a:srgbClr val="2E2A45"/>
                </a:solidFill>
                <a:latin typeface="Calibri" pitchFamily="34" charset="0"/>
                <a:ea typeface="Calibri" pitchFamily="34" charset="-122"/>
                <a:cs typeface="Calibri" pitchFamily="34" charset="-120"/>
              </a:rPr>
              <a:t>Ch. Akshitha Satwika - 2620030014</a:t>
            </a:r>
            <a:endParaRPr lang="en-US" sz="16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icon circle"/>
          <p:cNvSpPr/>
          <p:nvPr/>
        </p:nvSpPr>
        <p:spPr>
          <a:xfrm>
            <a:off x="548640" y="365760"/>
            <a:ext cx="640080" cy="640080"/>
          </a:xfrm>
          <a:prstGeom prst="ellipse">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con">    </p:cNvPr>
          <p:cNvPicPr>
            <a:picLocks noChangeAspect="1"/>
          </p:cNvPicPr>
          <p:nvPr/>
        </p:nvPicPr>
        <p:blipFill>
          <a:blip r:embed="rId2"/>
          <a:stretch>
            <a:fillRect/>
          </a:stretch>
        </p:blipFill>
        <p:spPr>
          <a:xfrm>
            <a:off x="713232" y="530352"/>
            <a:ext cx="310896" cy="310896"/>
          </a:xfrm>
          <a:prstGeom prst="rect">
            <a:avLst/>
          </a:prstGeom>
        </p:spPr>
      </p:pic>
      <p:sp>
        <p:nvSpPr>
          <p:cNvPr id="4" name="Text 1"/>
          <p:cNvSpPr txBox="1"/>
          <p:nvPr/>
        </p:nvSpPr>
        <p:spPr>
          <a:xfrm>
            <a:off x="1371600" y="320040"/>
            <a:ext cx="6858000" cy="731520"/>
          </a:xfrm>
          <a:prstGeom prst="rect">
            <a:avLst/>
          </a:prstGeom>
          <a:noFill/>
          <a:ln/>
        </p:spPr>
        <p:txBody>
          <a:bodyPr wrap="square" lIns="0" tIns="0" rIns="0" bIns="0" rtlCol="0" anchor="ctr"/>
          <a:lstStyle/>
          <a:p>
            <a:pPr indent="0" marL="0">
              <a:buNone/>
            </a:pPr>
            <a:r>
              <a:rPr lang="en-US" sz="3600" b="1" dirty="0">
                <a:solidFill>
                  <a:srgbClr val="5B4B8A"/>
                </a:solidFill>
                <a:latin typeface="Cambria" pitchFamily="34" charset="0"/>
                <a:ea typeface="Cambria" pitchFamily="34" charset="-122"/>
                <a:cs typeface="Cambria" pitchFamily="34" charset="-120"/>
              </a:rPr>
              <a:t>Abstract</a:t>
            </a:r>
            <a:endParaRPr lang="en-US" sz="3600" dirty="0"/>
          </a:p>
        </p:txBody>
      </p:sp>
      <p:sp>
        <p:nvSpPr>
          <p:cNvPr id="5" name="Abstract area"/>
          <p:cNvSpPr/>
          <p:nvPr/>
        </p:nvSpPr>
        <p:spPr>
          <a:xfrm>
            <a:off x="548640" y="1188720"/>
            <a:ext cx="8046720" cy="3520440"/>
          </a:xfrm>
          <a:prstGeom prst="roundRect">
            <a:avLst>
              <a:gd name="adj" fmla="val 3896"/>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6" name="Abstract text"/>
          <p:cNvSpPr txBox="1"/>
          <p:nvPr/>
        </p:nvSpPr>
        <p:spPr>
          <a:xfrm>
            <a:off x="822960" y="1325880"/>
            <a:ext cx="7498080" cy="3246120"/>
          </a:xfrm>
          <a:prstGeom prst="rect">
            <a:avLst/>
          </a:prstGeom>
          <a:noFill/>
          <a:ln/>
        </p:spPr>
        <p:txBody>
          <a:bodyPr wrap="square" lIns="0" tIns="0" rIns="0" bIns="0" rtlCol="0" anchor="ctr"/>
          <a:lstStyle/>
          <a:p>
            <a:pPr algn="just" indent="0" marL="0">
              <a:spcAft>
                <a:spcPts val="800"/>
              </a:spcAft>
              <a:buNone/>
            </a:pPr>
            <a:r>
              <a:rPr lang="en-US" sz="1400" dirty="0">
                <a:solidFill>
                  <a:srgbClr val="2E2A45"/>
                </a:solidFill>
                <a:latin typeface="Calibri" pitchFamily="34" charset="0"/>
                <a:ea typeface="Calibri" pitchFamily="34" charset="-122"/>
                <a:cs typeface="Calibri" pitchFamily="34" charset="-120"/>
              </a:rPr>
              <a:t>The Adaptive Quiz and Exam Engine is designed to conduct subject-wise quizzes and adjust question difficulty according to a user's performance. The application collects the user's name and roll number, allows the user to select a subject, presents questions at a selected difficulty level, accepts answers, and calculates the final score by comparing responses with predefined answer keys. Based on the score, the engine increases, decreases, or maintains the difficulty level for the next quiz, providing a simple form of personalized assessment.</a:t>
            </a:r>
            <a:endParaRPr lang="en-US" sz="1400" dirty="0"/>
          </a:p>
          <a:p>
            <a:pPr algn="just" indent="0" marL="0">
              <a:spcAft>
                <a:spcPts val="800"/>
              </a:spcAft>
              <a:buNone/>
            </a:pPr>
            <a:r>
              <a:rPr lang="en-US" sz="1400" dirty="0">
                <a:solidFill>
                  <a:srgbClr val="2E2A45"/>
                </a:solidFill>
                <a:latin typeface="Calibri" pitchFamily="34" charset="0"/>
                <a:ea typeface="Calibri" pitchFamily="34" charset="-122"/>
                <a:cs typeface="Calibri" pitchFamily="34" charset="-120"/>
              </a:rPr>
              <a:t>The program uses core Java concepts such as variables, conditional statements, switch statements, loops, arrays, and user-defined methods to organize quiz logic. Object-oriented programming is applied through a QuizResult class with encapsulated fields, a constructor, and methods for representing and accessing result data. File handling supports saving quiz results and reading previous results, while exception handling helps manage file input/output errors. The Collections Framework and Stream API are used to manage results, filter passing scores, and display a leaderboard. By combining adaptive difficulty, result storage, and basic performance summaries, the project demonstrates how Java programming concepts can be integrated into a practical educational application.</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icon circle"/>
          <p:cNvSpPr/>
          <p:nvPr/>
        </p:nvSpPr>
        <p:spPr>
          <a:xfrm>
            <a:off x="548640" y="365760"/>
            <a:ext cx="640080" cy="640080"/>
          </a:xfrm>
          <a:prstGeom prst="ellipse">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con">    </p:cNvPr>
          <p:cNvPicPr>
            <a:picLocks noChangeAspect="1"/>
          </p:cNvPicPr>
          <p:nvPr/>
        </p:nvPicPr>
        <p:blipFill>
          <a:blip r:embed="rId2"/>
          <a:stretch>
            <a:fillRect/>
          </a:stretch>
        </p:blipFill>
        <p:spPr>
          <a:xfrm>
            <a:off x="713232" y="530352"/>
            <a:ext cx="310896" cy="310896"/>
          </a:xfrm>
          <a:prstGeom prst="rect">
            <a:avLst/>
          </a:prstGeom>
        </p:spPr>
      </p:pic>
      <p:sp>
        <p:nvSpPr>
          <p:cNvPr id="4" name="Text 1"/>
          <p:cNvSpPr txBox="1"/>
          <p:nvPr/>
        </p:nvSpPr>
        <p:spPr>
          <a:xfrm>
            <a:off x="1371600" y="320040"/>
            <a:ext cx="7223760" cy="731520"/>
          </a:xfrm>
          <a:prstGeom prst="rect">
            <a:avLst/>
          </a:prstGeom>
          <a:noFill/>
          <a:ln/>
        </p:spPr>
        <p:txBody>
          <a:bodyPr wrap="square" lIns="0" tIns="0" rIns="0" bIns="0" rtlCol="0" anchor="ctr"/>
          <a:lstStyle/>
          <a:p>
            <a:pPr indent="0" marL="0">
              <a:buNone/>
            </a:pPr>
            <a:r>
              <a:rPr lang="en-US" sz="3600" b="1" dirty="0">
                <a:solidFill>
                  <a:srgbClr val="5B4B8A"/>
                </a:solidFill>
                <a:latin typeface="Cambria" pitchFamily="34" charset="0"/>
                <a:ea typeface="Cambria" pitchFamily="34" charset="-122"/>
                <a:cs typeface="Cambria" pitchFamily="34" charset="-120"/>
              </a:rPr>
              <a:t>Understanding Problem Statement</a:t>
            </a:r>
            <a:endParaRPr lang="en-US" sz="3600" dirty="0"/>
          </a:p>
        </p:txBody>
      </p:sp>
      <p:sp>
        <p:nvSpPr>
          <p:cNvPr id="5" name="Problem card 1"/>
          <p:cNvSpPr/>
          <p:nvPr/>
        </p:nvSpPr>
        <p:spPr>
          <a:xfrm>
            <a:off x="548640" y="1280160"/>
            <a:ext cx="8046720" cy="685800"/>
          </a:xfrm>
          <a:prstGeom prst="roundRect">
            <a:avLst>
              <a:gd name="adj" fmla="val 1866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6" name="Shape 3"/>
          <p:cNvSpPr/>
          <p:nvPr/>
        </p:nvSpPr>
        <p:spPr>
          <a:xfrm>
            <a:off x="731520" y="1371600"/>
            <a:ext cx="502920" cy="502920"/>
          </a:xfrm>
          <a:prstGeom prst="ellipse">
            <a:avLst/>
          </a:prstGeom>
          <a:solidFill>
            <a:srgbClr val="5B4B8A"/>
          </a:solidFill>
          <a:ln w="12700">
            <a:solidFill>
              <a:srgbClr val="5B4B8A"/>
            </a:solidFill>
            <a:prstDash val="solid"/>
          </a:ln>
        </p:spPr>
      </p:sp>
      <p:pic>
        <p:nvPicPr>
          <p:cNvPr id="7" name="Image 1" descr="icon">    </p:cNvPr>
          <p:cNvPicPr>
            <a:picLocks noChangeAspect="1"/>
          </p:cNvPicPr>
          <p:nvPr/>
        </p:nvPicPr>
        <p:blipFill>
          <a:blip r:embed="rId3"/>
          <a:stretch>
            <a:fillRect/>
          </a:stretch>
        </p:blipFill>
        <p:spPr>
          <a:xfrm>
            <a:off x="850392" y="1490472"/>
            <a:ext cx="265176" cy="265176"/>
          </a:xfrm>
          <a:prstGeom prst="rect">
            <a:avLst/>
          </a:prstGeom>
        </p:spPr>
      </p:pic>
      <p:sp>
        <p:nvSpPr>
          <p:cNvPr id="8" name="Text 4"/>
          <p:cNvSpPr txBox="1"/>
          <p:nvPr/>
        </p:nvSpPr>
        <p:spPr>
          <a:xfrm>
            <a:off x="1463040" y="1280160"/>
            <a:ext cx="6949440" cy="685800"/>
          </a:xfrm>
          <a:prstGeom prst="rect">
            <a:avLst/>
          </a:prstGeom>
          <a:noFill/>
          <a:ln/>
        </p:spPr>
        <p:txBody>
          <a:bodyPr wrap="square" lIns="0" tIns="0" rIns="0" bIns="0" rtlCol="0" anchor="ctr"/>
          <a:lstStyle/>
          <a:p>
            <a:pPr indent="0" marL="0">
              <a:buNone/>
            </a:pPr>
            <a:r>
              <a:rPr lang="en-US" sz="1600" dirty="0">
                <a:solidFill>
                  <a:srgbClr val="2E2A45"/>
                </a:solidFill>
                <a:latin typeface="Calibri" pitchFamily="34" charset="0"/>
                <a:ea typeface="Calibri" pitchFamily="34" charset="-122"/>
                <a:cs typeface="Calibri" pitchFamily="34" charset="-120"/>
              </a:rPr>
              <a:t>Traditional exams give every student the same fixed questions, whatever their ability.</a:t>
            </a:r>
            <a:endParaRPr lang="en-US" sz="1600" dirty="0"/>
          </a:p>
        </p:txBody>
      </p:sp>
      <p:sp>
        <p:nvSpPr>
          <p:cNvPr id="9" name="Problem card 2"/>
          <p:cNvSpPr/>
          <p:nvPr/>
        </p:nvSpPr>
        <p:spPr>
          <a:xfrm>
            <a:off x="548640" y="2103120"/>
            <a:ext cx="8046720" cy="685800"/>
          </a:xfrm>
          <a:prstGeom prst="roundRect">
            <a:avLst>
              <a:gd name="adj" fmla="val 1866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0" name="Shape 6"/>
          <p:cNvSpPr/>
          <p:nvPr/>
        </p:nvSpPr>
        <p:spPr>
          <a:xfrm>
            <a:off x="731520" y="2194560"/>
            <a:ext cx="502920" cy="502920"/>
          </a:xfrm>
          <a:prstGeom prst="ellipse">
            <a:avLst/>
          </a:prstGeom>
          <a:solidFill>
            <a:srgbClr val="5B4B8A"/>
          </a:solidFill>
          <a:ln w="12700">
            <a:solidFill>
              <a:srgbClr val="5B4B8A"/>
            </a:solidFill>
            <a:prstDash val="solid"/>
          </a:ln>
        </p:spPr>
      </p:sp>
      <p:pic>
        <p:nvPicPr>
          <p:cNvPr id="11" name="Image 2" descr="icon">    </p:cNvPr>
          <p:cNvPicPr>
            <a:picLocks noChangeAspect="1"/>
          </p:cNvPicPr>
          <p:nvPr/>
        </p:nvPicPr>
        <p:blipFill>
          <a:blip r:embed="rId4"/>
          <a:stretch>
            <a:fillRect/>
          </a:stretch>
        </p:blipFill>
        <p:spPr>
          <a:xfrm>
            <a:off x="850392" y="2313432"/>
            <a:ext cx="265176" cy="265176"/>
          </a:xfrm>
          <a:prstGeom prst="rect">
            <a:avLst/>
          </a:prstGeom>
        </p:spPr>
      </p:pic>
      <p:sp>
        <p:nvSpPr>
          <p:cNvPr id="12" name="Text 7"/>
          <p:cNvSpPr txBox="1"/>
          <p:nvPr/>
        </p:nvSpPr>
        <p:spPr>
          <a:xfrm>
            <a:off x="1463040" y="2103120"/>
            <a:ext cx="6949440" cy="685800"/>
          </a:xfrm>
          <a:prstGeom prst="rect">
            <a:avLst/>
          </a:prstGeom>
          <a:noFill/>
          <a:ln/>
        </p:spPr>
        <p:txBody>
          <a:bodyPr wrap="square" lIns="0" tIns="0" rIns="0" bIns="0" rtlCol="0" anchor="ctr"/>
          <a:lstStyle/>
          <a:p>
            <a:pPr indent="0" marL="0">
              <a:buNone/>
            </a:pPr>
            <a:r>
              <a:rPr lang="en-US" sz="1600" dirty="0">
                <a:solidFill>
                  <a:srgbClr val="2E2A45"/>
                </a:solidFill>
                <a:latin typeface="Calibri" pitchFamily="34" charset="0"/>
                <a:ea typeface="Calibri" pitchFamily="34" charset="-122"/>
                <a:cs typeface="Calibri" pitchFamily="34" charset="-120"/>
              </a:rPr>
              <a:t>Manual checking and result preparation is slow and open to errors.</a:t>
            </a:r>
            <a:endParaRPr lang="en-US" sz="1600" dirty="0"/>
          </a:p>
        </p:txBody>
      </p:sp>
      <p:sp>
        <p:nvSpPr>
          <p:cNvPr id="13" name="Problem card 3"/>
          <p:cNvSpPr/>
          <p:nvPr/>
        </p:nvSpPr>
        <p:spPr>
          <a:xfrm>
            <a:off x="548640" y="2926080"/>
            <a:ext cx="8046720" cy="685800"/>
          </a:xfrm>
          <a:prstGeom prst="roundRect">
            <a:avLst>
              <a:gd name="adj" fmla="val 1866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4" name="Shape 9"/>
          <p:cNvSpPr/>
          <p:nvPr/>
        </p:nvSpPr>
        <p:spPr>
          <a:xfrm>
            <a:off x="731520" y="3017520"/>
            <a:ext cx="502920" cy="502920"/>
          </a:xfrm>
          <a:prstGeom prst="ellipse">
            <a:avLst/>
          </a:prstGeom>
          <a:solidFill>
            <a:srgbClr val="5B4B8A"/>
          </a:solidFill>
          <a:ln w="12700">
            <a:solidFill>
              <a:srgbClr val="5B4B8A"/>
            </a:solidFill>
            <a:prstDash val="solid"/>
          </a:ln>
        </p:spPr>
      </p:sp>
      <p:pic>
        <p:nvPicPr>
          <p:cNvPr id="15" name="Image 3" descr="icon">    </p:cNvPr>
          <p:cNvPicPr>
            <a:picLocks noChangeAspect="1"/>
          </p:cNvPicPr>
          <p:nvPr/>
        </p:nvPicPr>
        <p:blipFill>
          <a:blip r:embed="rId5"/>
          <a:stretch>
            <a:fillRect/>
          </a:stretch>
        </p:blipFill>
        <p:spPr>
          <a:xfrm>
            <a:off x="850392" y="3136392"/>
            <a:ext cx="265176" cy="265176"/>
          </a:xfrm>
          <a:prstGeom prst="rect">
            <a:avLst/>
          </a:prstGeom>
        </p:spPr>
      </p:pic>
      <p:sp>
        <p:nvSpPr>
          <p:cNvPr id="16" name="Text 10"/>
          <p:cNvSpPr txBox="1"/>
          <p:nvPr/>
        </p:nvSpPr>
        <p:spPr>
          <a:xfrm>
            <a:off x="1463040" y="2926080"/>
            <a:ext cx="6949440" cy="685800"/>
          </a:xfrm>
          <a:prstGeom prst="rect">
            <a:avLst/>
          </a:prstGeom>
          <a:noFill/>
          <a:ln/>
        </p:spPr>
        <p:txBody>
          <a:bodyPr wrap="square" lIns="0" tIns="0" rIns="0" bIns="0" rtlCol="0" anchor="ctr"/>
          <a:lstStyle/>
          <a:p>
            <a:pPr indent="0" marL="0">
              <a:buNone/>
            </a:pPr>
            <a:r>
              <a:rPr lang="en-US" sz="1600" dirty="0">
                <a:solidFill>
                  <a:srgbClr val="2E2A45"/>
                </a:solidFill>
                <a:latin typeface="Calibri" pitchFamily="34" charset="0"/>
                <a:ea typeface="Calibri" pitchFamily="34" charset="-122"/>
                <a:cs typeface="Calibri" pitchFamily="34" charset="-120"/>
              </a:rPr>
              <a:t>Learners need quizzes whose difficulty adapts to how they perform.</a:t>
            </a:r>
            <a:endParaRPr lang="en-US" sz="1600" dirty="0"/>
          </a:p>
        </p:txBody>
      </p:sp>
      <p:sp>
        <p:nvSpPr>
          <p:cNvPr id="17" name="Problem card 4"/>
          <p:cNvSpPr/>
          <p:nvPr/>
        </p:nvSpPr>
        <p:spPr>
          <a:xfrm>
            <a:off x="548640" y="3749040"/>
            <a:ext cx="8046720" cy="685800"/>
          </a:xfrm>
          <a:prstGeom prst="roundRect">
            <a:avLst>
              <a:gd name="adj" fmla="val 1866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8" name="Shape 12"/>
          <p:cNvSpPr/>
          <p:nvPr/>
        </p:nvSpPr>
        <p:spPr>
          <a:xfrm>
            <a:off x="731520" y="3840480"/>
            <a:ext cx="502920" cy="502920"/>
          </a:xfrm>
          <a:prstGeom prst="ellipse">
            <a:avLst/>
          </a:prstGeom>
          <a:solidFill>
            <a:srgbClr val="5B4B8A"/>
          </a:solidFill>
          <a:ln w="12700">
            <a:solidFill>
              <a:srgbClr val="5B4B8A"/>
            </a:solidFill>
            <a:prstDash val="solid"/>
          </a:ln>
        </p:spPr>
      </p:sp>
      <p:pic>
        <p:nvPicPr>
          <p:cNvPr id="19" name="Image 4" descr="icon">    </p:cNvPr>
          <p:cNvPicPr>
            <a:picLocks noChangeAspect="1"/>
          </p:cNvPicPr>
          <p:nvPr/>
        </p:nvPicPr>
        <p:blipFill>
          <a:blip r:embed="rId6"/>
          <a:stretch>
            <a:fillRect/>
          </a:stretch>
        </p:blipFill>
        <p:spPr>
          <a:xfrm>
            <a:off x="850392" y="3959352"/>
            <a:ext cx="265176" cy="265176"/>
          </a:xfrm>
          <a:prstGeom prst="rect">
            <a:avLst/>
          </a:prstGeom>
        </p:spPr>
      </p:pic>
      <p:sp>
        <p:nvSpPr>
          <p:cNvPr id="20" name="Text 13"/>
          <p:cNvSpPr txBox="1"/>
          <p:nvPr/>
        </p:nvSpPr>
        <p:spPr>
          <a:xfrm>
            <a:off x="1463040" y="3749040"/>
            <a:ext cx="6949440" cy="685800"/>
          </a:xfrm>
          <a:prstGeom prst="rect">
            <a:avLst/>
          </a:prstGeom>
          <a:noFill/>
          <a:ln/>
        </p:spPr>
        <p:txBody>
          <a:bodyPr wrap="square" lIns="0" tIns="0" rIns="0" bIns="0" rtlCol="0" anchor="ctr"/>
          <a:lstStyle/>
          <a:p>
            <a:pPr indent="0" marL="0">
              <a:buNone/>
            </a:pPr>
            <a:r>
              <a:rPr lang="en-US" sz="1600" dirty="0">
                <a:solidFill>
                  <a:srgbClr val="2E2A45"/>
                </a:solidFill>
                <a:latin typeface="Calibri" pitchFamily="34" charset="0"/>
                <a:ea typeface="Calibri" pitchFamily="34" charset="-122"/>
                <a:cs typeface="Calibri" pitchFamily="34" charset="-120"/>
              </a:rPr>
              <a:t>Our Java engine adapts questions, scores answers and saves results to files.</a:t>
            </a:r>
            <a:endParaRPr lang="en-US" sz="16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icon circle"/>
          <p:cNvSpPr/>
          <p:nvPr/>
        </p:nvSpPr>
        <p:spPr>
          <a:xfrm>
            <a:off x="548640" y="365760"/>
            <a:ext cx="640080" cy="640080"/>
          </a:xfrm>
          <a:prstGeom prst="ellipse">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con">    </p:cNvPr>
          <p:cNvPicPr>
            <a:picLocks noChangeAspect="1"/>
          </p:cNvPicPr>
          <p:nvPr/>
        </p:nvPicPr>
        <p:blipFill>
          <a:blip r:embed="rId2"/>
          <a:stretch>
            <a:fillRect/>
          </a:stretch>
        </p:blipFill>
        <p:spPr>
          <a:xfrm>
            <a:off x="713232" y="530352"/>
            <a:ext cx="310896" cy="310896"/>
          </a:xfrm>
          <a:prstGeom prst="rect">
            <a:avLst/>
          </a:prstGeom>
        </p:spPr>
      </p:pic>
      <p:sp>
        <p:nvSpPr>
          <p:cNvPr id="4" name="Text 1"/>
          <p:cNvSpPr txBox="1"/>
          <p:nvPr/>
        </p:nvSpPr>
        <p:spPr>
          <a:xfrm>
            <a:off x="1371600" y="320040"/>
            <a:ext cx="1371600" cy="731520"/>
          </a:xfrm>
          <a:prstGeom prst="rect">
            <a:avLst/>
          </a:prstGeom>
          <a:noFill/>
          <a:ln/>
        </p:spPr>
        <p:txBody>
          <a:bodyPr wrap="square" lIns="0" tIns="0" rIns="0" bIns="0" rtlCol="0" anchor="ctr"/>
          <a:lstStyle/>
          <a:p>
            <a:pPr indent="0" marL="0">
              <a:buNone/>
            </a:pPr>
            <a:r>
              <a:rPr lang="en-US" sz="3600" b="1" dirty="0">
                <a:solidFill>
                  <a:srgbClr val="5B4B8A"/>
                </a:solidFill>
                <a:latin typeface="Cambria" pitchFamily="34" charset="0"/>
                <a:ea typeface="Cambria" pitchFamily="34" charset="-122"/>
                <a:cs typeface="Cambria" pitchFamily="34" charset="-120"/>
              </a:rPr>
              <a:t>CO1</a:t>
            </a:r>
            <a:endParaRPr lang="en-US" sz="3600" dirty="0"/>
          </a:p>
        </p:txBody>
      </p:sp>
      <p:sp>
        <p:nvSpPr>
          <p:cNvPr id="5" name="Text 2"/>
          <p:cNvSpPr txBox="1"/>
          <p:nvPr/>
        </p:nvSpPr>
        <p:spPr>
          <a:xfrm>
            <a:off x="2834640" y="320040"/>
            <a:ext cx="4572000" cy="731520"/>
          </a:xfrm>
          <a:prstGeom prst="rect">
            <a:avLst/>
          </a:prstGeom>
          <a:noFill/>
          <a:ln/>
        </p:spPr>
        <p:txBody>
          <a:bodyPr wrap="square" lIns="0" tIns="0" rIns="0" bIns="0" rtlCol="0" anchor="ctr"/>
          <a:lstStyle/>
          <a:p>
            <a:pPr indent="0" marL="0">
              <a:buNone/>
            </a:pPr>
            <a:r>
              <a:rPr lang="en-US" sz="1800" i="1" dirty="0">
                <a:solidFill>
                  <a:srgbClr val="8E7CC3"/>
                </a:solidFill>
                <a:latin typeface="Calibri" pitchFamily="34" charset="0"/>
                <a:ea typeface="Calibri" pitchFamily="34" charset="-122"/>
                <a:cs typeface="Calibri" pitchFamily="34" charset="-120"/>
              </a:rPr>
              <a:t>Programming Fundamentals</a:t>
            </a:r>
            <a:endParaRPr lang="en-US" sz="1800" dirty="0"/>
          </a:p>
        </p:txBody>
      </p:sp>
      <p:sp>
        <p:nvSpPr>
          <p:cNvPr id="6" name="Topic 1"/>
          <p:cNvSpPr/>
          <p:nvPr/>
        </p:nvSpPr>
        <p:spPr>
          <a:xfrm>
            <a:off x="548640" y="1280160"/>
            <a:ext cx="5760720" cy="570586"/>
          </a:xfrm>
          <a:prstGeom prst="roundRect">
            <a:avLst>
              <a:gd name="adj" fmla="val 4807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7" name="Shape 4"/>
          <p:cNvSpPr/>
          <p:nvPr/>
        </p:nvSpPr>
        <p:spPr>
          <a:xfrm>
            <a:off x="658368" y="1391717"/>
            <a:ext cx="347472" cy="347472"/>
          </a:xfrm>
          <a:prstGeom prst="ellipse">
            <a:avLst/>
          </a:prstGeom>
          <a:solidFill>
            <a:srgbClr val="5B4B8A"/>
          </a:solidFill>
          <a:ln w="12700">
            <a:solidFill>
              <a:srgbClr val="5B4B8A"/>
            </a:solidFill>
            <a:prstDash val="solid"/>
          </a:ln>
        </p:spPr>
      </p:sp>
      <p:sp>
        <p:nvSpPr>
          <p:cNvPr id="8" name="Text 5"/>
          <p:cNvSpPr txBox="1"/>
          <p:nvPr/>
        </p:nvSpPr>
        <p:spPr>
          <a:xfrm>
            <a:off x="658368" y="1391717"/>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115568" y="1280160"/>
            <a:ext cx="5047488" cy="570586"/>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Variables</a:t>
            </a:r>
            <a:endParaRPr lang="en-US" sz="1800" dirty="0"/>
          </a:p>
        </p:txBody>
      </p:sp>
      <p:sp>
        <p:nvSpPr>
          <p:cNvPr id="10" name="Topic 2"/>
          <p:cNvSpPr/>
          <p:nvPr/>
        </p:nvSpPr>
        <p:spPr>
          <a:xfrm>
            <a:off x="548640" y="1960474"/>
            <a:ext cx="5760720" cy="570586"/>
          </a:xfrm>
          <a:prstGeom prst="roundRect">
            <a:avLst>
              <a:gd name="adj" fmla="val 4807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1" name="Shape 8"/>
          <p:cNvSpPr/>
          <p:nvPr/>
        </p:nvSpPr>
        <p:spPr>
          <a:xfrm>
            <a:off x="658368" y="2072030"/>
            <a:ext cx="347472" cy="347472"/>
          </a:xfrm>
          <a:prstGeom prst="ellipse">
            <a:avLst/>
          </a:prstGeom>
          <a:solidFill>
            <a:srgbClr val="5B4B8A"/>
          </a:solidFill>
          <a:ln w="12700">
            <a:solidFill>
              <a:srgbClr val="5B4B8A"/>
            </a:solidFill>
            <a:prstDash val="solid"/>
          </a:ln>
        </p:spPr>
      </p:sp>
      <p:sp>
        <p:nvSpPr>
          <p:cNvPr id="12" name="Text 9"/>
          <p:cNvSpPr txBox="1"/>
          <p:nvPr/>
        </p:nvSpPr>
        <p:spPr>
          <a:xfrm>
            <a:off x="658368" y="207203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115568" y="1960474"/>
            <a:ext cx="5047488" cy="570586"/>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Data types</a:t>
            </a:r>
            <a:endParaRPr lang="en-US" sz="1800" dirty="0"/>
          </a:p>
        </p:txBody>
      </p:sp>
      <p:sp>
        <p:nvSpPr>
          <p:cNvPr id="14" name="Topic 3"/>
          <p:cNvSpPr/>
          <p:nvPr/>
        </p:nvSpPr>
        <p:spPr>
          <a:xfrm>
            <a:off x="548640" y="2640787"/>
            <a:ext cx="5760720" cy="570586"/>
          </a:xfrm>
          <a:prstGeom prst="roundRect">
            <a:avLst>
              <a:gd name="adj" fmla="val 4807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5" name="Shape 12"/>
          <p:cNvSpPr/>
          <p:nvPr/>
        </p:nvSpPr>
        <p:spPr>
          <a:xfrm>
            <a:off x="658368" y="2752344"/>
            <a:ext cx="347472" cy="347472"/>
          </a:xfrm>
          <a:prstGeom prst="ellipse">
            <a:avLst/>
          </a:prstGeom>
          <a:solidFill>
            <a:srgbClr val="5B4B8A"/>
          </a:solidFill>
          <a:ln w="12700">
            <a:solidFill>
              <a:srgbClr val="5B4B8A"/>
            </a:solidFill>
            <a:prstDash val="solid"/>
          </a:ln>
        </p:spPr>
      </p:sp>
      <p:sp>
        <p:nvSpPr>
          <p:cNvPr id="16" name="Text 13"/>
          <p:cNvSpPr txBox="1"/>
          <p:nvPr/>
        </p:nvSpPr>
        <p:spPr>
          <a:xfrm>
            <a:off x="658368" y="27523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115568" y="2640787"/>
            <a:ext cx="5047488" cy="570586"/>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Constants and literals</a:t>
            </a:r>
            <a:endParaRPr lang="en-US" sz="1800" dirty="0"/>
          </a:p>
        </p:txBody>
      </p:sp>
      <p:sp>
        <p:nvSpPr>
          <p:cNvPr id="18" name="Topic 4"/>
          <p:cNvSpPr/>
          <p:nvPr/>
        </p:nvSpPr>
        <p:spPr>
          <a:xfrm>
            <a:off x="548640" y="3321101"/>
            <a:ext cx="5760720" cy="570586"/>
          </a:xfrm>
          <a:prstGeom prst="roundRect">
            <a:avLst>
              <a:gd name="adj" fmla="val 4807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9" name="Shape 16"/>
          <p:cNvSpPr/>
          <p:nvPr/>
        </p:nvSpPr>
        <p:spPr>
          <a:xfrm>
            <a:off x="658368" y="3432658"/>
            <a:ext cx="347472" cy="347472"/>
          </a:xfrm>
          <a:prstGeom prst="ellipse">
            <a:avLst/>
          </a:prstGeom>
          <a:solidFill>
            <a:srgbClr val="5B4B8A"/>
          </a:solidFill>
          <a:ln w="12700">
            <a:solidFill>
              <a:srgbClr val="5B4B8A"/>
            </a:solidFill>
            <a:prstDash val="solid"/>
          </a:ln>
        </p:spPr>
      </p:sp>
      <p:sp>
        <p:nvSpPr>
          <p:cNvPr id="20" name="Text 17"/>
          <p:cNvSpPr txBox="1"/>
          <p:nvPr/>
        </p:nvSpPr>
        <p:spPr>
          <a:xfrm>
            <a:off x="658368" y="343265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115568" y="3321101"/>
            <a:ext cx="5047488" cy="570586"/>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Operators</a:t>
            </a:r>
            <a:endParaRPr lang="en-US" sz="1800" dirty="0"/>
          </a:p>
        </p:txBody>
      </p:sp>
      <p:sp>
        <p:nvSpPr>
          <p:cNvPr id="22" name="Topic 5"/>
          <p:cNvSpPr/>
          <p:nvPr/>
        </p:nvSpPr>
        <p:spPr>
          <a:xfrm>
            <a:off x="548640" y="4001414"/>
            <a:ext cx="5760720" cy="570586"/>
          </a:xfrm>
          <a:prstGeom prst="roundRect">
            <a:avLst>
              <a:gd name="adj" fmla="val 4807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23" name="Shape 20"/>
          <p:cNvSpPr/>
          <p:nvPr/>
        </p:nvSpPr>
        <p:spPr>
          <a:xfrm>
            <a:off x="658368" y="4112971"/>
            <a:ext cx="347472" cy="347472"/>
          </a:xfrm>
          <a:prstGeom prst="ellipse">
            <a:avLst/>
          </a:prstGeom>
          <a:solidFill>
            <a:srgbClr val="5B4B8A"/>
          </a:solidFill>
          <a:ln w="12700">
            <a:solidFill>
              <a:srgbClr val="5B4B8A"/>
            </a:solidFill>
            <a:prstDash val="solid"/>
          </a:ln>
        </p:spPr>
      </p:sp>
      <p:sp>
        <p:nvSpPr>
          <p:cNvPr id="24" name="Text 21"/>
          <p:cNvSpPr txBox="1"/>
          <p:nvPr/>
        </p:nvSpPr>
        <p:spPr>
          <a:xfrm>
            <a:off x="658368" y="4112971"/>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1115568" y="4001414"/>
            <a:ext cx="5047488" cy="570586"/>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Scanner class</a:t>
            </a:r>
            <a:endParaRPr lang="en-US" sz="1800" dirty="0"/>
          </a:p>
        </p:txBody>
      </p:sp>
      <p:sp>
        <p:nvSpPr>
          <p:cNvPr id="26" name="Icon panel"/>
          <p:cNvSpPr/>
          <p:nvPr/>
        </p:nvSpPr>
        <p:spPr>
          <a:xfrm>
            <a:off x="6583680" y="1280160"/>
            <a:ext cx="2011680" cy="3291840"/>
          </a:xfrm>
          <a:prstGeom prst="roundRect">
            <a:avLst>
              <a:gd name="adj" fmla="val 9091"/>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sp>
        <p:nvSpPr>
          <p:cNvPr id="27" name="Shape 24"/>
          <p:cNvSpPr/>
          <p:nvPr/>
        </p:nvSpPr>
        <p:spPr>
          <a:xfrm>
            <a:off x="6858000" y="1783080"/>
            <a:ext cx="1463040" cy="1463040"/>
          </a:xfrm>
          <a:prstGeom prst="ellipse">
            <a:avLst/>
          </a:prstGeom>
          <a:solidFill>
            <a:srgbClr val="FFFFFF">
              <a:alpha val="15000"/>
            </a:srgbClr>
          </a:solidFill>
          <a:ln w="19050">
            <a:solidFill>
              <a:srgbClr val="FFFFFF"/>
            </a:solidFill>
            <a:prstDash val="solid"/>
          </a:ln>
        </p:spPr>
      </p:sp>
      <p:sp>
        <p:nvSpPr>
          <p:cNvPr id="28" name="Shape 25"/>
          <p:cNvSpPr/>
          <p:nvPr/>
        </p:nvSpPr>
        <p:spPr>
          <a:xfrm>
            <a:off x="6995160" y="1920240"/>
            <a:ext cx="1188720" cy="1188720"/>
          </a:xfrm>
          <a:prstGeom prst="ellipse">
            <a:avLst/>
          </a:prstGeom>
          <a:solidFill>
            <a:srgbClr val="FFFFFF"/>
          </a:solidFill>
          <a:ln w="25400">
            <a:solidFill>
              <a:srgbClr val="8E7CC3"/>
            </a:solidFill>
            <a:prstDash val="solid"/>
          </a:ln>
        </p:spPr>
      </p:sp>
      <p:pic>
        <p:nvPicPr>
          <p:cNvPr id="29" name="Image 1" descr="CO1 icon">    </p:cNvPr>
          <p:cNvPicPr>
            <a:picLocks noChangeAspect="1"/>
          </p:cNvPicPr>
          <p:nvPr/>
        </p:nvPicPr>
        <p:blipFill>
          <a:blip r:embed="rId3"/>
          <a:stretch>
            <a:fillRect/>
          </a:stretch>
        </p:blipFill>
        <p:spPr>
          <a:xfrm>
            <a:off x="7315200" y="2240280"/>
            <a:ext cx="548640" cy="548640"/>
          </a:xfrm>
          <a:prstGeom prst="rect">
            <a:avLst/>
          </a:prstGeom>
        </p:spPr>
      </p:pic>
      <p:sp>
        <p:nvSpPr>
          <p:cNvPr id="30" name="Text 26"/>
          <p:cNvSpPr txBox="1"/>
          <p:nvPr/>
        </p:nvSpPr>
        <p:spPr>
          <a:xfrm>
            <a:off x="6583680" y="3474720"/>
            <a:ext cx="201168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CO1</a:t>
            </a:r>
            <a:endParaRPr lang="en-US" sz="28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icon circle"/>
          <p:cNvSpPr/>
          <p:nvPr/>
        </p:nvSpPr>
        <p:spPr>
          <a:xfrm>
            <a:off x="548640" y="365760"/>
            <a:ext cx="640080" cy="640080"/>
          </a:xfrm>
          <a:prstGeom prst="ellipse">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con">    </p:cNvPr>
          <p:cNvPicPr>
            <a:picLocks noChangeAspect="1"/>
          </p:cNvPicPr>
          <p:nvPr/>
        </p:nvPicPr>
        <p:blipFill>
          <a:blip r:embed="rId2"/>
          <a:stretch>
            <a:fillRect/>
          </a:stretch>
        </p:blipFill>
        <p:spPr>
          <a:xfrm>
            <a:off x="713232" y="530352"/>
            <a:ext cx="310896" cy="310896"/>
          </a:xfrm>
          <a:prstGeom prst="rect">
            <a:avLst/>
          </a:prstGeom>
        </p:spPr>
      </p:pic>
      <p:sp>
        <p:nvSpPr>
          <p:cNvPr id="4" name="Text 1"/>
          <p:cNvSpPr txBox="1"/>
          <p:nvPr/>
        </p:nvSpPr>
        <p:spPr>
          <a:xfrm>
            <a:off x="1371600" y="320040"/>
            <a:ext cx="1371600" cy="731520"/>
          </a:xfrm>
          <a:prstGeom prst="rect">
            <a:avLst/>
          </a:prstGeom>
          <a:noFill/>
          <a:ln/>
        </p:spPr>
        <p:txBody>
          <a:bodyPr wrap="square" lIns="0" tIns="0" rIns="0" bIns="0" rtlCol="0" anchor="ctr"/>
          <a:lstStyle/>
          <a:p>
            <a:pPr indent="0" marL="0">
              <a:buNone/>
            </a:pPr>
            <a:r>
              <a:rPr lang="en-US" sz="3600" b="1" dirty="0">
                <a:solidFill>
                  <a:srgbClr val="5B4B8A"/>
                </a:solidFill>
                <a:latin typeface="Cambria" pitchFamily="34" charset="0"/>
                <a:ea typeface="Cambria" pitchFamily="34" charset="-122"/>
                <a:cs typeface="Cambria" pitchFamily="34" charset="-120"/>
              </a:rPr>
              <a:t>CO2</a:t>
            </a:r>
            <a:endParaRPr lang="en-US" sz="3600" dirty="0"/>
          </a:p>
        </p:txBody>
      </p:sp>
      <p:sp>
        <p:nvSpPr>
          <p:cNvPr id="5" name="Text 2"/>
          <p:cNvSpPr txBox="1"/>
          <p:nvPr/>
        </p:nvSpPr>
        <p:spPr>
          <a:xfrm>
            <a:off x="2834640" y="320040"/>
            <a:ext cx="4572000" cy="731520"/>
          </a:xfrm>
          <a:prstGeom prst="rect">
            <a:avLst/>
          </a:prstGeom>
          <a:noFill/>
          <a:ln/>
        </p:spPr>
        <p:txBody>
          <a:bodyPr wrap="square" lIns="0" tIns="0" rIns="0" bIns="0" rtlCol="0" anchor="ctr"/>
          <a:lstStyle/>
          <a:p>
            <a:pPr indent="0" marL="0">
              <a:buNone/>
            </a:pPr>
            <a:r>
              <a:rPr lang="en-US" sz="1800" i="1" dirty="0">
                <a:solidFill>
                  <a:srgbClr val="8E7CC3"/>
                </a:solidFill>
                <a:latin typeface="Calibri" pitchFamily="34" charset="0"/>
                <a:ea typeface="Calibri" pitchFamily="34" charset="-122"/>
                <a:cs typeface="Calibri" pitchFamily="34" charset="-120"/>
              </a:rPr>
              <a:t>Control Statements</a:t>
            </a:r>
            <a:endParaRPr lang="en-US" sz="1800" dirty="0"/>
          </a:p>
        </p:txBody>
      </p:sp>
      <p:sp>
        <p:nvSpPr>
          <p:cNvPr id="6" name="Topic 1"/>
          <p:cNvSpPr/>
          <p:nvPr/>
        </p:nvSpPr>
        <p:spPr>
          <a:xfrm>
            <a:off x="548640" y="1280160"/>
            <a:ext cx="5760720" cy="45720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7" name="Shape 4"/>
          <p:cNvSpPr/>
          <p:nvPr/>
        </p:nvSpPr>
        <p:spPr>
          <a:xfrm>
            <a:off x="658368" y="1335024"/>
            <a:ext cx="347472" cy="347472"/>
          </a:xfrm>
          <a:prstGeom prst="ellipse">
            <a:avLst/>
          </a:prstGeom>
          <a:solidFill>
            <a:srgbClr val="5B4B8A"/>
          </a:solidFill>
          <a:ln w="12700">
            <a:solidFill>
              <a:srgbClr val="5B4B8A"/>
            </a:solidFill>
            <a:prstDash val="solid"/>
          </a:ln>
        </p:spPr>
      </p:sp>
      <p:sp>
        <p:nvSpPr>
          <p:cNvPr id="8" name="Text 5"/>
          <p:cNvSpPr txBox="1"/>
          <p:nvPr/>
        </p:nvSpPr>
        <p:spPr>
          <a:xfrm>
            <a:off x="658368" y="133502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115568" y="1280160"/>
            <a:ext cx="5047488" cy="457200"/>
          </a:xfrm>
          <a:prstGeom prst="rect">
            <a:avLst/>
          </a:prstGeom>
          <a:noFill/>
          <a:ln/>
        </p:spPr>
        <p:txBody>
          <a:bodyPr wrap="square" lIns="0" tIns="0" rIns="0" bIns="0" rtlCol="0" anchor="ctr"/>
          <a:lstStyle/>
          <a:p>
            <a:pPr indent="0" marL="0">
              <a:buNone/>
            </a:pPr>
            <a:r>
              <a:rPr lang="en-US" sz="1600" dirty="0">
                <a:solidFill>
                  <a:srgbClr val="2E2A45"/>
                </a:solidFill>
                <a:latin typeface="Calibri" pitchFamily="34" charset="0"/>
                <a:ea typeface="Calibri" pitchFamily="34" charset="-122"/>
                <a:cs typeface="Calibri" pitchFamily="34" charset="-120"/>
              </a:rPr>
              <a:t>Conditional statements (if-else)</a:t>
            </a:r>
            <a:endParaRPr lang="en-US" sz="1600" dirty="0"/>
          </a:p>
        </p:txBody>
      </p:sp>
      <p:sp>
        <p:nvSpPr>
          <p:cNvPr id="10" name="Topic 2"/>
          <p:cNvSpPr/>
          <p:nvPr/>
        </p:nvSpPr>
        <p:spPr>
          <a:xfrm>
            <a:off x="548640" y="1847088"/>
            <a:ext cx="5760720" cy="45720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1" name="Shape 8"/>
          <p:cNvSpPr/>
          <p:nvPr/>
        </p:nvSpPr>
        <p:spPr>
          <a:xfrm>
            <a:off x="658368" y="1901952"/>
            <a:ext cx="347472" cy="347472"/>
          </a:xfrm>
          <a:prstGeom prst="ellipse">
            <a:avLst/>
          </a:prstGeom>
          <a:solidFill>
            <a:srgbClr val="5B4B8A"/>
          </a:solidFill>
          <a:ln w="12700">
            <a:solidFill>
              <a:srgbClr val="5B4B8A"/>
            </a:solidFill>
            <a:prstDash val="solid"/>
          </a:ln>
        </p:spPr>
      </p:sp>
      <p:sp>
        <p:nvSpPr>
          <p:cNvPr id="12" name="Text 9"/>
          <p:cNvSpPr txBox="1"/>
          <p:nvPr/>
        </p:nvSpPr>
        <p:spPr>
          <a:xfrm>
            <a:off x="658368" y="19019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115568" y="1847088"/>
            <a:ext cx="5047488" cy="457200"/>
          </a:xfrm>
          <a:prstGeom prst="rect">
            <a:avLst/>
          </a:prstGeom>
          <a:noFill/>
          <a:ln/>
        </p:spPr>
        <p:txBody>
          <a:bodyPr wrap="square" lIns="0" tIns="0" rIns="0" bIns="0" rtlCol="0" anchor="ctr"/>
          <a:lstStyle/>
          <a:p>
            <a:pPr indent="0" marL="0">
              <a:buNone/>
            </a:pPr>
            <a:r>
              <a:rPr lang="en-US" sz="1600" dirty="0">
                <a:solidFill>
                  <a:srgbClr val="2E2A45"/>
                </a:solidFill>
                <a:latin typeface="Calibri" pitchFamily="34" charset="0"/>
                <a:ea typeface="Calibri" pitchFamily="34" charset="-122"/>
                <a:cs typeface="Calibri" pitchFamily="34" charset="-120"/>
              </a:rPr>
              <a:t>Nested if</a:t>
            </a:r>
            <a:endParaRPr lang="en-US" sz="1600" dirty="0"/>
          </a:p>
        </p:txBody>
      </p:sp>
      <p:sp>
        <p:nvSpPr>
          <p:cNvPr id="14" name="Topic 3"/>
          <p:cNvSpPr/>
          <p:nvPr/>
        </p:nvSpPr>
        <p:spPr>
          <a:xfrm>
            <a:off x="548640" y="2414016"/>
            <a:ext cx="5760720" cy="45720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5" name="Shape 12"/>
          <p:cNvSpPr/>
          <p:nvPr/>
        </p:nvSpPr>
        <p:spPr>
          <a:xfrm>
            <a:off x="658368" y="2468880"/>
            <a:ext cx="347472" cy="347472"/>
          </a:xfrm>
          <a:prstGeom prst="ellipse">
            <a:avLst/>
          </a:prstGeom>
          <a:solidFill>
            <a:srgbClr val="5B4B8A"/>
          </a:solidFill>
          <a:ln w="12700">
            <a:solidFill>
              <a:srgbClr val="5B4B8A"/>
            </a:solidFill>
            <a:prstDash val="solid"/>
          </a:ln>
        </p:spPr>
      </p:sp>
      <p:sp>
        <p:nvSpPr>
          <p:cNvPr id="16" name="Text 13"/>
          <p:cNvSpPr txBox="1"/>
          <p:nvPr/>
        </p:nvSpPr>
        <p:spPr>
          <a:xfrm>
            <a:off x="658368" y="24688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115568" y="2414016"/>
            <a:ext cx="5047488" cy="457200"/>
          </a:xfrm>
          <a:prstGeom prst="rect">
            <a:avLst/>
          </a:prstGeom>
          <a:noFill/>
          <a:ln/>
        </p:spPr>
        <p:txBody>
          <a:bodyPr wrap="square" lIns="0" tIns="0" rIns="0" bIns="0" rtlCol="0" anchor="ctr"/>
          <a:lstStyle/>
          <a:p>
            <a:pPr indent="0" marL="0">
              <a:buNone/>
            </a:pPr>
            <a:r>
              <a:rPr lang="en-US" sz="1600" dirty="0">
                <a:solidFill>
                  <a:srgbClr val="2E2A45"/>
                </a:solidFill>
                <a:latin typeface="Calibri" pitchFamily="34" charset="0"/>
                <a:ea typeface="Calibri" pitchFamily="34" charset="-122"/>
                <a:cs typeface="Calibri" pitchFamily="34" charset="-120"/>
              </a:rPr>
              <a:t>switch</a:t>
            </a:r>
            <a:endParaRPr lang="en-US" sz="1600" dirty="0"/>
          </a:p>
        </p:txBody>
      </p:sp>
      <p:sp>
        <p:nvSpPr>
          <p:cNvPr id="18" name="Topic 4"/>
          <p:cNvSpPr/>
          <p:nvPr/>
        </p:nvSpPr>
        <p:spPr>
          <a:xfrm>
            <a:off x="548640" y="2980944"/>
            <a:ext cx="5760720" cy="45720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9" name="Shape 16"/>
          <p:cNvSpPr/>
          <p:nvPr/>
        </p:nvSpPr>
        <p:spPr>
          <a:xfrm>
            <a:off x="658368" y="3035808"/>
            <a:ext cx="347472" cy="347472"/>
          </a:xfrm>
          <a:prstGeom prst="ellipse">
            <a:avLst/>
          </a:prstGeom>
          <a:solidFill>
            <a:srgbClr val="5B4B8A"/>
          </a:solidFill>
          <a:ln w="12700">
            <a:solidFill>
              <a:srgbClr val="5B4B8A"/>
            </a:solidFill>
            <a:prstDash val="solid"/>
          </a:ln>
        </p:spPr>
      </p:sp>
      <p:sp>
        <p:nvSpPr>
          <p:cNvPr id="20" name="Text 17"/>
          <p:cNvSpPr txBox="1"/>
          <p:nvPr/>
        </p:nvSpPr>
        <p:spPr>
          <a:xfrm>
            <a:off x="658368" y="30358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115568" y="2980944"/>
            <a:ext cx="5047488" cy="457200"/>
          </a:xfrm>
          <a:prstGeom prst="rect">
            <a:avLst/>
          </a:prstGeom>
          <a:noFill/>
          <a:ln/>
        </p:spPr>
        <p:txBody>
          <a:bodyPr wrap="square" lIns="0" tIns="0" rIns="0" bIns="0" rtlCol="0" anchor="ctr"/>
          <a:lstStyle/>
          <a:p>
            <a:pPr indent="0" marL="0">
              <a:buNone/>
            </a:pPr>
            <a:r>
              <a:rPr lang="en-US" sz="1600" dirty="0">
                <a:solidFill>
                  <a:srgbClr val="2E2A45"/>
                </a:solidFill>
                <a:latin typeface="Calibri" pitchFamily="34" charset="0"/>
                <a:ea typeface="Calibri" pitchFamily="34" charset="-122"/>
                <a:cs typeface="Calibri" pitchFamily="34" charset="-120"/>
              </a:rPr>
              <a:t>Loops (for, do-while)</a:t>
            </a:r>
            <a:endParaRPr lang="en-US" sz="1600" dirty="0"/>
          </a:p>
        </p:txBody>
      </p:sp>
      <p:sp>
        <p:nvSpPr>
          <p:cNvPr id="22" name="Topic 5"/>
          <p:cNvSpPr/>
          <p:nvPr/>
        </p:nvSpPr>
        <p:spPr>
          <a:xfrm>
            <a:off x="548640" y="3547872"/>
            <a:ext cx="5760720" cy="45720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23" name="Shape 20"/>
          <p:cNvSpPr/>
          <p:nvPr/>
        </p:nvSpPr>
        <p:spPr>
          <a:xfrm>
            <a:off x="658368" y="3602736"/>
            <a:ext cx="347472" cy="347472"/>
          </a:xfrm>
          <a:prstGeom prst="ellipse">
            <a:avLst/>
          </a:prstGeom>
          <a:solidFill>
            <a:srgbClr val="5B4B8A"/>
          </a:solidFill>
          <a:ln w="12700">
            <a:solidFill>
              <a:srgbClr val="5B4B8A"/>
            </a:solidFill>
            <a:prstDash val="solid"/>
          </a:ln>
        </p:spPr>
      </p:sp>
      <p:sp>
        <p:nvSpPr>
          <p:cNvPr id="24" name="Text 21"/>
          <p:cNvSpPr txBox="1"/>
          <p:nvPr/>
        </p:nvSpPr>
        <p:spPr>
          <a:xfrm>
            <a:off x="658368" y="36027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1115568" y="3547872"/>
            <a:ext cx="5047488" cy="457200"/>
          </a:xfrm>
          <a:prstGeom prst="rect">
            <a:avLst/>
          </a:prstGeom>
          <a:noFill/>
          <a:ln/>
        </p:spPr>
        <p:txBody>
          <a:bodyPr wrap="square" lIns="0" tIns="0" rIns="0" bIns="0" rtlCol="0" anchor="ctr"/>
          <a:lstStyle/>
          <a:p>
            <a:pPr indent="0" marL="0">
              <a:buNone/>
            </a:pPr>
            <a:r>
              <a:rPr lang="en-US" sz="1600" dirty="0">
                <a:solidFill>
                  <a:srgbClr val="2E2A45"/>
                </a:solidFill>
                <a:latin typeface="Calibri" pitchFamily="34" charset="0"/>
                <a:ea typeface="Calibri" pitchFamily="34" charset="-122"/>
                <a:cs typeface="Calibri" pitchFamily="34" charset="-120"/>
              </a:rPr>
              <a:t>break</a:t>
            </a:r>
            <a:endParaRPr lang="en-US" sz="1600" dirty="0"/>
          </a:p>
        </p:txBody>
      </p:sp>
      <p:sp>
        <p:nvSpPr>
          <p:cNvPr id="26" name="Topic 6"/>
          <p:cNvSpPr/>
          <p:nvPr/>
        </p:nvSpPr>
        <p:spPr>
          <a:xfrm>
            <a:off x="548640" y="4114800"/>
            <a:ext cx="5760720" cy="45720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27" name="Shape 24"/>
          <p:cNvSpPr/>
          <p:nvPr/>
        </p:nvSpPr>
        <p:spPr>
          <a:xfrm>
            <a:off x="658368" y="4169664"/>
            <a:ext cx="347472" cy="347472"/>
          </a:xfrm>
          <a:prstGeom prst="ellipse">
            <a:avLst/>
          </a:prstGeom>
          <a:solidFill>
            <a:srgbClr val="5B4B8A"/>
          </a:solidFill>
          <a:ln w="12700">
            <a:solidFill>
              <a:srgbClr val="5B4B8A"/>
            </a:solidFill>
            <a:prstDash val="solid"/>
          </a:ln>
        </p:spPr>
      </p:sp>
      <p:sp>
        <p:nvSpPr>
          <p:cNvPr id="28" name="Text 25"/>
          <p:cNvSpPr txBox="1"/>
          <p:nvPr/>
        </p:nvSpPr>
        <p:spPr>
          <a:xfrm>
            <a:off x="658368" y="41696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9" name="Text 26"/>
          <p:cNvSpPr txBox="1"/>
          <p:nvPr/>
        </p:nvSpPr>
        <p:spPr>
          <a:xfrm>
            <a:off x="1115568" y="4114800"/>
            <a:ext cx="5047488" cy="457200"/>
          </a:xfrm>
          <a:prstGeom prst="rect">
            <a:avLst/>
          </a:prstGeom>
          <a:noFill/>
          <a:ln/>
        </p:spPr>
        <p:txBody>
          <a:bodyPr wrap="square" lIns="0" tIns="0" rIns="0" bIns="0" rtlCol="0" anchor="ctr"/>
          <a:lstStyle/>
          <a:p>
            <a:pPr indent="0" marL="0">
              <a:buNone/>
            </a:pPr>
            <a:r>
              <a:rPr lang="en-US" sz="1600" dirty="0">
                <a:solidFill>
                  <a:srgbClr val="2E2A45"/>
                </a:solidFill>
                <a:latin typeface="Calibri" pitchFamily="34" charset="0"/>
                <a:ea typeface="Calibri" pitchFamily="34" charset="-122"/>
                <a:cs typeface="Calibri" pitchFamily="34" charset="-120"/>
              </a:rPr>
              <a:t>continue</a:t>
            </a:r>
            <a:endParaRPr lang="en-US" sz="1600" dirty="0"/>
          </a:p>
        </p:txBody>
      </p:sp>
      <p:sp>
        <p:nvSpPr>
          <p:cNvPr id="30" name="Icon panel"/>
          <p:cNvSpPr/>
          <p:nvPr/>
        </p:nvSpPr>
        <p:spPr>
          <a:xfrm>
            <a:off x="6583680" y="1280160"/>
            <a:ext cx="2011680" cy="3291840"/>
          </a:xfrm>
          <a:prstGeom prst="roundRect">
            <a:avLst>
              <a:gd name="adj" fmla="val 9091"/>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sp>
        <p:nvSpPr>
          <p:cNvPr id="31" name="Shape 28"/>
          <p:cNvSpPr/>
          <p:nvPr/>
        </p:nvSpPr>
        <p:spPr>
          <a:xfrm>
            <a:off x="6858000" y="1783080"/>
            <a:ext cx="1463040" cy="1463040"/>
          </a:xfrm>
          <a:prstGeom prst="ellipse">
            <a:avLst/>
          </a:prstGeom>
          <a:solidFill>
            <a:srgbClr val="FFFFFF">
              <a:alpha val="15000"/>
            </a:srgbClr>
          </a:solidFill>
          <a:ln w="19050">
            <a:solidFill>
              <a:srgbClr val="FFFFFF"/>
            </a:solidFill>
            <a:prstDash val="solid"/>
          </a:ln>
        </p:spPr>
      </p:sp>
      <p:sp>
        <p:nvSpPr>
          <p:cNvPr id="32" name="Shape 29"/>
          <p:cNvSpPr/>
          <p:nvPr/>
        </p:nvSpPr>
        <p:spPr>
          <a:xfrm>
            <a:off x="6995160" y="1920240"/>
            <a:ext cx="1188720" cy="1188720"/>
          </a:xfrm>
          <a:prstGeom prst="ellipse">
            <a:avLst/>
          </a:prstGeom>
          <a:solidFill>
            <a:srgbClr val="FFFFFF"/>
          </a:solidFill>
          <a:ln w="25400">
            <a:solidFill>
              <a:srgbClr val="8E7CC3"/>
            </a:solidFill>
            <a:prstDash val="solid"/>
          </a:ln>
        </p:spPr>
      </p:sp>
      <p:pic>
        <p:nvPicPr>
          <p:cNvPr id="33" name="Image 1" descr="CO2 icon">    </p:cNvPr>
          <p:cNvPicPr>
            <a:picLocks noChangeAspect="1"/>
          </p:cNvPicPr>
          <p:nvPr/>
        </p:nvPicPr>
        <p:blipFill>
          <a:blip r:embed="rId3"/>
          <a:stretch>
            <a:fillRect/>
          </a:stretch>
        </p:blipFill>
        <p:spPr>
          <a:xfrm>
            <a:off x="7315200" y="2240280"/>
            <a:ext cx="548640" cy="548640"/>
          </a:xfrm>
          <a:prstGeom prst="rect">
            <a:avLst/>
          </a:prstGeom>
        </p:spPr>
      </p:pic>
      <p:sp>
        <p:nvSpPr>
          <p:cNvPr id="34" name="Text 30"/>
          <p:cNvSpPr txBox="1"/>
          <p:nvPr/>
        </p:nvSpPr>
        <p:spPr>
          <a:xfrm>
            <a:off x="6583680" y="3474720"/>
            <a:ext cx="201168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CO2</a:t>
            </a:r>
            <a:endParaRPr lang="en-US" sz="28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icon circle"/>
          <p:cNvSpPr/>
          <p:nvPr/>
        </p:nvSpPr>
        <p:spPr>
          <a:xfrm>
            <a:off x="548640" y="365760"/>
            <a:ext cx="640080" cy="640080"/>
          </a:xfrm>
          <a:prstGeom prst="ellipse">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con">    </p:cNvPr>
          <p:cNvPicPr>
            <a:picLocks noChangeAspect="1"/>
          </p:cNvPicPr>
          <p:nvPr/>
        </p:nvPicPr>
        <p:blipFill>
          <a:blip r:embed="rId2"/>
          <a:stretch>
            <a:fillRect/>
          </a:stretch>
        </p:blipFill>
        <p:spPr>
          <a:xfrm>
            <a:off x="713232" y="530352"/>
            <a:ext cx="310896" cy="310896"/>
          </a:xfrm>
          <a:prstGeom prst="rect">
            <a:avLst/>
          </a:prstGeom>
        </p:spPr>
      </p:pic>
      <p:sp>
        <p:nvSpPr>
          <p:cNvPr id="4" name="Text 1"/>
          <p:cNvSpPr txBox="1"/>
          <p:nvPr/>
        </p:nvSpPr>
        <p:spPr>
          <a:xfrm>
            <a:off x="1371600" y="320040"/>
            <a:ext cx="1371600" cy="731520"/>
          </a:xfrm>
          <a:prstGeom prst="rect">
            <a:avLst/>
          </a:prstGeom>
          <a:noFill/>
          <a:ln/>
        </p:spPr>
        <p:txBody>
          <a:bodyPr wrap="square" lIns="0" tIns="0" rIns="0" bIns="0" rtlCol="0" anchor="ctr"/>
          <a:lstStyle/>
          <a:p>
            <a:pPr indent="0" marL="0">
              <a:buNone/>
            </a:pPr>
            <a:r>
              <a:rPr lang="en-US" sz="3600" b="1" dirty="0">
                <a:solidFill>
                  <a:srgbClr val="5B4B8A"/>
                </a:solidFill>
                <a:latin typeface="Cambria" pitchFamily="34" charset="0"/>
                <a:ea typeface="Cambria" pitchFamily="34" charset="-122"/>
                <a:cs typeface="Cambria" pitchFamily="34" charset="-120"/>
              </a:rPr>
              <a:t>CO3</a:t>
            </a:r>
            <a:endParaRPr lang="en-US" sz="3600" dirty="0"/>
          </a:p>
        </p:txBody>
      </p:sp>
      <p:sp>
        <p:nvSpPr>
          <p:cNvPr id="5" name="Text 2"/>
          <p:cNvSpPr txBox="1"/>
          <p:nvPr/>
        </p:nvSpPr>
        <p:spPr>
          <a:xfrm>
            <a:off x="2834640" y="320040"/>
            <a:ext cx="4572000" cy="731520"/>
          </a:xfrm>
          <a:prstGeom prst="rect">
            <a:avLst/>
          </a:prstGeom>
          <a:noFill/>
          <a:ln/>
        </p:spPr>
        <p:txBody>
          <a:bodyPr wrap="square" lIns="0" tIns="0" rIns="0" bIns="0" rtlCol="0" anchor="ctr"/>
          <a:lstStyle/>
          <a:p>
            <a:pPr indent="0" marL="0">
              <a:buNone/>
            </a:pPr>
            <a:r>
              <a:rPr lang="en-US" sz="1800" i="1" dirty="0">
                <a:solidFill>
                  <a:srgbClr val="8E7CC3"/>
                </a:solidFill>
                <a:latin typeface="Calibri" pitchFamily="34" charset="0"/>
                <a:ea typeface="Calibri" pitchFamily="34" charset="-122"/>
                <a:cs typeface="Calibri" pitchFamily="34" charset="-120"/>
              </a:rPr>
              <a:t>Methods and Arrays</a:t>
            </a:r>
            <a:endParaRPr lang="en-US" sz="1800" dirty="0"/>
          </a:p>
        </p:txBody>
      </p:sp>
      <p:sp>
        <p:nvSpPr>
          <p:cNvPr id="6" name="Topic 1"/>
          <p:cNvSpPr/>
          <p:nvPr/>
        </p:nvSpPr>
        <p:spPr>
          <a:xfrm>
            <a:off x="548640" y="1787652"/>
            <a:ext cx="5760720" cy="685800"/>
          </a:xfrm>
          <a:prstGeom prst="roundRect">
            <a:avLst>
              <a:gd name="adj" fmla="val 4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7" name="Shape 4"/>
          <p:cNvSpPr/>
          <p:nvPr/>
        </p:nvSpPr>
        <p:spPr>
          <a:xfrm>
            <a:off x="658368" y="1956816"/>
            <a:ext cx="347472" cy="347472"/>
          </a:xfrm>
          <a:prstGeom prst="ellipse">
            <a:avLst/>
          </a:prstGeom>
          <a:solidFill>
            <a:srgbClr val="5B4B8A"/>
          </a:solidFill>
          <a:ln w="12700">
            <a:solidFill>
              <a:srgbClr val="5B4B8A"/>
            </a:solidFill>
            <a:prstDash val="solid"/>
          </a:ln>
        </p:spPr>
      </p:sp>
      <p:sp>
        <p:nvSpPr>
          <p:cNvPr id="8" name="Text 5"/>
          <p:cNvSpPr txBox="1"/>
          <p:nvPr/>
        </p:nvSpPr>
        <p:spPr>
          <a:xfrm>
            <a:off x="658368" y="19568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115568" y="1787652"/>
            <a:ext cx="5047488" cy="685800"/>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Methods</a:t>
            </a:r>
            <a:endParaRPr lang="en-US" sz="1800" dirty="0"/>
          </a:p>
        </p:txBody>
      </p:sp>
      <p:sp>
        <p:nvSpPr>
          <p:cNvPr id="10" name="Topic 2"/>
          <p:cNvSpPr/>
          <p:nvPr/>
        </p:nvSpPr>
        <p:spPr>
          <a:xfrm>
            <a:off x="548640" y="2583180"/>
            <a:ext cx="5760720" cy="685800"/>
          </a:xfrm>
          <a:prstGeom prst="roundRect">
            <a:avLst>
              <a:gd name="adj" fmla="val 4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1" name="Shape 8"/>
          <p:cNvSpPr/>
          <p:nvPr/>
        </p:nvSpPr>
        <p:spPr>
          <a:xfrm>
            <a:off x="658368" y="2752344"/>
            <a:ext cx="347472" cy="347472"/>
          </a:xfrm>
          <a:prstGeom prst="ellipse">
            <a:avLst/>
          </a:prstGeom>
          <a:solidFill>
            <a:srgbClr val="5B4B8A"/>
          </a:solidFill>
          <a:ln w="12700">
            <a:solidFill>
              <a:srgbClr val="5B4B8A"/>
            </a:solidFill>
            <a:prstDash val="solid"/>
          </a:ln>
        </p:spPr>
      </p:sp>
      <p:sp>
        <p:nvSpPr>
          <p:cNvPr id="12" name="Text 9"/>
          <p:cNvSpPr txBox="1"/>
          <p:nvPr/>
        </p:nvSpPr>
        <p:spPr>
          <a:xfrm>
            <a:off x="658368" y="27523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115568" y="2583180"/>
            <a:ext cx="5047488" cy="685800"/>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One-dimensional arrays</a:t>
            </a:r>
            <a:endParaRPr lang="en-US" sz="1800" dirty="0"/>
          </a:p>
        </p:txBody>
      </p:sp>
      <p:sp>
        <p:nvSpPr>
          <p:cNvPr id="14" name="Topic 3"/>
          <p:cNvSpPr/>
          <p:nvPr/>
        </p:nvSpPr>
        <p:spPr>
          <a:xfrm>
            <a:off x="548640" y="3378708"/>
            <a:ext cx="5760720" cy="685800"/>
          </a:xfrm>
          <a:prstGeom prst="roundRect">
            <a:avLst>
              <a:gd name="adj" fmla="val 4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5" name="Shape 12"/>
          <p:cNvSpPr/>
          <p:nvPr/>
        </p:nvSpPr>
        <p:spPr>
          <a:xfrm>
            <a:off x="658368" y="3547872"/>
            <a:ext cx="347472" cy="347472"/>
          </a:xfrm>
          <a:prstGeom prst="ellipse">
            <a:avLst/>
          </a:prstGeom>
          <a:solidFill>
            <a:srgbClr val="5B4B8A"/>
          </a:solidFill>
          <a:ln w="12700">
            <a:solidFill>
              <a:srgbClr val="5B4B8A"/>
            </a:solidFill>
            <a:prstDash val="solid"/>
          </a:ln>
        </p:spPr>
      </p:sp>
      <p:sp>
        <p:nvSpPr>
          <p:cNvPr id="16" name="Text 13"/>
          <p:cNvSpPr txBox="1"/>
          <p:nvPr/>
        </p:nvSpPr>
        <p:spPr>
          <a:xfrm>
            <a:off x="658368" y="354787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115568" y="3378708"/>
            <a:ext cx="5047488" cy="685800"/>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Summation</a:t>
            </a:r>
            <a:endParaRPr lang="en-US" sz="1800" dirty="0"/>
          </a:p>
        </p:txBody>
      </p:sp>
      <p:sp>
        <p:nvSpPr>
          <p:cNvPr id="18" name="Icon panel"/>
          <p:cNvSpPr/>
          <p:nvPr/>
        </p:nvSpPr>
        <p:spPr>
          <a:xfrm>
            <a:off x="6583680" y="1280160"/>
            <a:ext cx="2011680" cy="3291840"/>
          </a:xfrm>
          <a:prstGeom prst="roundRect">
            <a:avLst>
              <a:gd name="adj" fmla="val 9091"/>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sp>
        <p:nvSpPr>
          <p:cNvPr id="19" name="Shape 16"/>
          <p:cNvSpPr/>
          <p:nvPr/>
        </p:nvSpPr>
        <p:spPr>
          <a:xfrm>
            <a:off x="6858000" y="1783080"/>
            <a:ext cx="1463040" cy="1463040"/>
          </a:xfrm>
          <a:prstGeom prst="ellipse">
            <a:avLst/>
          </a:prstGeom>
          <a:solidFill>
            <a:srgbClr val="FFFFFF">
              <a:alpha val="15000"/>
            </a:srgbClr>
          </a:solidFill>
          <a:ln w="19050">
            <a:solidFill>
              <a:srgbClr val="FFFFFF"/>
            </a:solidFill>
            <a:prstDash val="solid"/>
          </a:ln>
        </p:spPr>
      </p:sp>
      <p:sp>
        <p:nvSpPr>
          <p:cNvPr id="20" name="Shape 17"/>
          <p:cNvSpPr/>
          <p:nvPr/>
        </p:nvSpPr>
        <p:spPr>
          <a:xfrm>
            <a:off x="6995160" y="1920240"/>
            <a:ext cx="1188720" cy="1188720"/>
          </a:xfrm>
          <a:prstGeom prst="ellipse">
            <a:avLst/>
          </a:prstGeom>
          <a:solidFill>
            <a:srgbClr val="FFFFFF"/>
          </a:solidFill>
          <a:ln w="25400">
            <a:solidFill>
              <a:srgbClr val="8E7CC3"/>
            </a:solidFill>
            <a:prstDash val="solid"/>
          </a:ln>
        </p:spPr>
      </p:sp>
      <p:pic>
        <p:nvPicPr>
          <p:cNvPr id="21" name="Image 1" descr="CO3 icon">    </p:cNvPr>
          <p:cNvPicPr>
            <a:picLocks noChangeAspect="1"/>
          </p:cNvPicPr>
          <p:nvPr/>
        </p:nvPicPr>
        <p:blipFill>
          <a:blip r:embed="rId3"/>
          <a:stretch>
            <a:fillRect/>
          </a:stretch>
        </p:blipFill>
        <p:spPr>
          <a:xfrm>
            <a:off x="7315200" y="2240280"/>
            <a:ext cx="548640" cy="548640"/>
          </a:xfrm>
          <a:prstGeom prst="rect">
            <a:avLst/>
          </a:prstGeom>
        </p:spPr>
      </p:pic>
      <p:sp>
        <p:nvSpPr>
          <p:cNvPr id="22" name="Text 18"/>
          <p:cNvSpPr txBox="1"/>
          <p:nvPr/>
        </p:nvSpPr>
        <p:spPr>
          <a:xfrm>
            <a:off x="6583680" y="3474720"/>
            <a:ext cx="201168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CO3</a:t>
            </a:r>
            <a:endParaRPr lang="en-US" sz="28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icon circle"/>
          <p:cNvSpPr/>
          <p:nvPr/>
        </p:nvSpPr>
        <p:spPr>
          <a:xfrm>
            <a:off x="548640" y="365760"/>
            <a:ext cx="640080" cy="640080"/>
          </a:xfrm>
          <a:prstGeom prst="ellipse">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con">    </p:cNvPr>
          <p:cNvPicPr>
            <a:picLocks noChangeAspect="1"/>
          </p:cNvPicPr>
          <p:nvPr/>
        </p:nvPicPr>
        <p:blipFill>
          <a:blip r:embed="rId2"/>
          <a:stretch>
            <a:fillRect/>
          </a:stretch>
        </p:blipFill>
        <p:spPr>
          <a:xfrm>
            <a:off x="713232" y="530352"/>
            <a:ext cx="310896" cy="310896"/>
          </a:xfrm>
          <a:prstGeom prst="rect">
            <a:avLst/>
          </a:prstGeom>
        </p:spPr>
      </p:pic>
      <p:sp>
        <p:nvSpPr>
          <p:cNvPr id="4" name="Text 1"/>
          <p:cNvSpPr txBox="1"/>
          <p:nvPr/>
        </p:nvSpPr>
        <p:spPr>
          <a:xfrm>
            <a:off x="1371600" y="320040"/>
            <a:ext cx="1371600" cy="731520"/>
          </a:xfrm>
          <a:prstGeom prst="rect">
            <a:avLst/>
          </a:prstGeom>
          <a:noFill/>
          <a:ln/>
        </p:spPr>
        <p:txBody>
          <a:bodyPr wrap="square" lIns="0" tIns="0" rIns="0" bIns="0" rtlCol="0" anchor="ctr"/>
          <a:lstStyle/>
          <a:p>
            <a:pPr indent="0" marL="0">
              <a:buNone/>
            </a:pPr>
            <a:r>
              <a:rPr lang="en-US" sz="3600" b="1" dirty="0">
                <a:solidFill>
                  <a:srgbClr val="5B4B8A"/>
                </a:solidFill>
                <a:latin typeface="Cambria" pitchFamily="34" charset="0"/>
                <a:ea typeface="Cambria" pitchFamily="34" charset="-122"/>
                <a:cs typeface="Cambria" pitchFamily="34" charset="-120"/>
              </a:rPr>
              <a:t>CO4</a:t>
            </a:r>
            <a:endParaRPr lang="en-US" sz="3600" dirty="0"/>
          </a:p>
        </p:txBody>
      </p:sp>
      <p:sp>
        <p:nvSpPr>
          <p:cNvPr id="5" name="Text 2"/>
          <p:cNvSpPr txBox="1"/>
          <p:nvPr/>
        </p:nvSpPr>
        <p:spPr>
          <a:xfrm>
            <a:off x="2834640" y="320040"/>
            <a:ext cx="4572000" cy="731520"/>
          </a:xfrm>
          <a:prstGeom prst="rect">
            <a:avLst/>
          </a:prstGeom>
          <a:noFill/>
          <a:ln/>
        </p:spPr>
        <p:txBody>
          <a:bodyPr wrap="square" lIns="0" tIns="0" rIns="0" bIns="0" rtlCol="0" anchor="ctr"/>
          <a:lstStyle/>
          <a:p>
            <a:pPr indent="0" marL="0">
              <a:buNone/>
            </a:pPr>
            <a:r>
              <a:rPr lang="en-US" sz="1800" i="1" dirty="0">
                <a:solidFill>
                  <a:srgbClr val="8E7CC3"/>
                </a:solidFill>
                <a:latin typeface="Calibri" pitchFamily="34" charset="0"/>
                <a:ea typeface="Calibri" pitchFamily="34" charset="-122"/>
                <a:cs typeface="Calibri" pitchFamily="34" charset="-120"/>
              </a:rPr>
              <a:t>OOP, Strings and Sorting</a:t>
            </a:r>
            <a:endParaRPr lang="en-US" sz="1800" dirty="0"/>
          </a:p>
        </p:txBody>
      </p:sp>
      <p:sp>
        <p:nvSpPr>
          <p:cNvPr id="6" name="Topic 1"/>
          <p:cNvSpPr/>
          <p:nvPr/>
        </p:nvSpPr>
        <p:spPr>
          <a:xfrm>
            <a:off x="548640" y="1280160"/>
            <a:ext cx="5760720" cy="570586"/>
          </a:xfrm>
          <a:prstGeom prst="roundRect">
            <a:avLst>
              <a:gd name="adj" fmla="val 4807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7" name="Shape 4"/>
          <p:cNvSpPr/>
          <p:nvPr/>
        </p:nvSpPr>
        <p:spPr>
          <a:xfrm>
            <a:off x="658368" y="1391717"/>
            <a:ext cx="347472" cy="347472"/>
          </a:xfrm>
          <a:prstGeom prst="ellipse">
            <a:avLst/>
          </a:prstGeom>
          <a:solidFill>
            <a:srgbClr val="5B4B8A"/>
          </a:solidFill>
          <a:ln w="12700">
            <a:solidFill>
              <a:srgbClr val="5B4B8A"/>
            </a:solidFill>
            <a:prstDash val="solid"/>
          </a:ln>
        </p:spPr>
      </p:sp>
      <p:sp>
        <p:nvSpPr>
          <p:cNvPr id="8" name="Text 5"/>
          <p:cNvSpPr txBox="1"/>
          <p:nvPr/>
        </p:nvSpPr>
        <p:spPr>
          <a:xfrm>
            <a:off x="658368" y="1391717"/>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115568" y="1280160"/>
            <a:ext cx="5047488" cy="570586"/>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Classes and objects</a:t>
            </a:r>
            <a:endParaRPr lang="en-US" sz="1800" dirty="0"/>
          </a:p>
        </p:txBody>
      </p:sp>
      <p:sp>
        <p:nvSpPr>
          <p:cNvPr id="10" name="Topic 2"/>
          <p:cNvSpPr/>
          <p:nvPr/>
        </p:nvSpPr>
        <p:spPr>
          <a:xfrm>
            <a:off x="548640" y="1960474"/>
            <a:ext cx="5760720" cy="570586"/>
          </a:xfrm>
          <a:prstGeom prst="roundRect">
            <a:avLst>
              <a:gd name="adj" fmla="val 4807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1" name="Shape 8"/>
          <p:cNvSpPr/>
          <p:nvPr/>
        </p:nvSpPr>
        <p:spPr>
          <a:xfrm>
            <a:off x="658368" y="2072030"/>
            <a:ext cx="347472" cy="347472"/>
          </a:xfrm>
          <a:prstGeom prst="ellipse">
            <a:avLst/>
          </a:prstGeom>
          <a:solidFill>
            <a:srgbClr val="5B4B8A"/>
          </a:solidFill>
          <a:ln w="12700">
            <a:solidFill>
              <a:srgbClr val="5B4B8A"/>
            </a:solidFill>
            <a:prstDash val="solid"/>
          </a:ln>
        </p:spPr>
      </p:sp>
      <p:sp>
        <p:nvSpPr>
          <p:cNvPr id="12" name="Text 9"/>
          <p:cNvSpPr txBox="1"/>
          <p:nvPr/>
        </p:nvSpPr>
        <p:spPr>
          <a:xfrm>
            <a:off x="658368" y="207203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115568" y="1960474"/>
            <a:ext cx="5047488" cy="570586"/>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Constructor</a:t>
            </a:r>
            <a:endParaRPr lang="en-US" sz="1800" dirty="0"/>
          </a:p>
        </p:txBody>
      </p:sp>
      <p:sp>
        <p:nvSpPr>
          <p:cNvPr id="14" name="Topic 3"/>
          <p:cNvSpPr/>
          <p:nvPr/>
        </p:nvSpPr>
        <p:spPr>
          <a:xfrm>
            <a:off x="548640" y="2640787"/>
            <a:ext cx="5760720" cy="570586"/>
          </a:xfrm>
          <a:prstGeom prst="roundRect">
            <a:avLst>
              <a:gd name="adj" fmla="val 4807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5" name="Shape 12"/>
          <p:cNvSpPr/>
          <p:nvPr/>
        </p:nvSpPr>
        <p:spPr>
          <a:xfrm>
            <a:off x="658368" y="2752344"/>
            <a:ext cx="347472" cy="347472"/>
          </a:xfrm>
          <a:prstGeom prst="ellipse">
            <a:avLst/>
          </a:prstGeom>
          <a:solidFill>
            <a:srgbClr val="5B4B8A"/>
          </a:solidFill>
          <a:ln w="12700">
            <a:solidFill>
              <a:srgbClr val="5B4B8A"/>
            </a:solidFill>
            <a:prstDash val="solid"/>
          </a:ln>
        </p:spPr>
      </p:sp>
      <p:sp>
        <p:nvSpPr>
          <p:cNvPr id="16" name="Text 13"/>
          <p:cNvSpPr txBox="1"/>
          <p:nvPr/>
        </p:nvSpPr>
        <p:spPr>
          <a:xfrm>
            <a:off x="658368" y="27523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115568" y="2640787"/>
            <a:ext cx="5047488" cy="570586"/>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OOPs (Encapsulation)</a:t>
            </a:r>
            <a:endParaRPr lang="en-US" sz="1800" dirty="0"/>
          </a:p>
        </p:txBody>
      </p:sp>
      <p:sp>
        <p:nvSpPr>
          <p:cNvPr id="18" name="Topic 4"/>
          <p:cNvSpPr/>
          <p:nvPr/>
        </p:nvSpPr>
        <p:spPr>
          <a:xfrm>
            <a:off x="548640" y="3321101"/>
            <a:ext cx="5760720" cy="570586"/>
          </a:xfrm>
          <a:prstGeom prst="roundRect">
            <a:avLst>
              <a:gd name="adj" fmla="val 4807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9" name="Shape 16"/>
          <p:cNvSpPr/>
          <p:nvPr/>
        </p:nvSpPr>
        <p:spPr>
          <a:xfrm>
            <a:off x="658368" y="3432658"/>
            <a:ext cx="347472" cy="347472"/>
          </a:xfrm>
          <a:prstGeom prst="ellipse">
            <a:avLst/>
          </a:prstGeom>
          <a:solidFill>
            <a:srgbClr val="5B4B8A"/>
          </a:solidFill>
          <a:ln w="12700">
            <a:solidFill>
              <a:srgbClr val="5B4B8A"/>
            </a:solidFill>
            <a:prstDash val="solid"/>
          </a:ln>
        </p:spPr>
      </p:sp>
      <p:sp>
        <p:nvSpPr>
          <p:cNvPr id="20" name="Text 17"/>
          <p:cNvSpPr txBox="1"/>
          <p:nvPr/>
        </p:nvSpPr>
        <p:spPr>
          <a:xfrm>
            <a:off x="658368" y="343265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115568" y="3321101"/>
            <a:ext cx="5047488" cy="570586"/>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Strings</a:t>
            </a:r>
            <a:endParaRPr lang="en-US" sz="1800" dirty="0"/>
          </a:p>
        </p:txBody>
      </p:sp>
      <p:sp>
        <p:nvSpPr>
          <p:cNvPr id="22" name="Topic 5"/>
          <p:cNvSpPr/>
          <p:nvPr/>
        </p:nvSpPr>
        <p:spPr>
          <a:xfrm>
            <a:off x="548640" y="4001414"/>
            <a:ext cx="5760720" cy="570586"/>
          </a:xfrm>
          <a:prstGeom prst="roundRect">
            <a:avLst>
              <a:gd name="adj" fmla="val 4807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23" name="Shape 20"/>
          <p:cNvSpPr/>
          <p:nvPr/>
        </p:nvSpPr>
        <p:spPr>
          <a:xfrm>
            <a:off x="658368" y="4112971"/>
            <a:ext cx="347472" cy="347472"/>
          </a:xfrm>
          <a:prstGeom prst="ellipse">
            <a:avLst/>
          </a:prstGeom>
          <a:solidFill>
            <a:srgbClr val="5B4B8A"/>
          </a:solidFill>
          <a:ln w="12700">
            <a:solidFill>
              <a:srgbClr val="5B4B8A"/>
            </a:solidFill>
            <a:prstDash val="solid"/>
          </a:ln>
        </p:spPr>
      </p:sp>
      <p:sp>
        <p:nvSpPr>
          <p:cNvPr id="24" name="Text 21"/>
          <p:cNvSpPr txBox="1"/>
          <p:nvPr/>
        </p:nvSpPr>
        <p:spPr>
          <a:xfrm>
            <a:off x="658368" y="4112971"/>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1115568" y="4001414"/>
            <a:ext cx="5047488" cy="570586"/>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Sorting and Comparator interface</a:t>
            </a:r>
            <a:endParaRPr lang="en-US" sz="1800" dirty="0"/>
          </a:p>
        </p:txBody>
      </p:sp>
      <p:sp>
        <p:nvSpPr>
          <p:cNvPr id="26" name="Icon panel"/>
          <p:cNvSpPr/>
          <p:nvPr/>
        </p:nvSpPr>
        <p:spPr>
          <a:xfrm>
            <a:off x="6583680" y="1280160"/>
            <a:ext cx="2011680" cy="3291840"/>
          </a:xfrm>
          <a:prstGeom prst="roundRect">
            <a:avLst>
              <a:gd name="adj" fmla="val 9091"/>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sp>
        <p:nvSpPr>
          <p:cNvPr id="27" name="Shape 24"/>
          <p:cNvSpPr/>
          <p:nvPr/>
        </p:nvSpPr>
        <p:spPr>
          <a:xfrm>
            <a:off x="6858000" y="1783080"/>
            <a:ext cx="1463040" cy="1463040"/>
          </a:xfrm>
          <a:prstGeom prst="ellipse">
            <a:avLst/>
          </a:prstGeom>
          <a:solidFill>
            <a:srgbClr val="FFFFFF">
              <a:alpha val="15000"/>
            </a:srgbClr>
          </a:solidFill>
          <a:ln w="19050">
            <a:solidFill>
              <a:srgbClr val="FFFFFF"/>
            </a:solidFill>
            <a:prstDash val="solid"/>
          </a:ln>
        </p:spPr>
      </p:sp>
      <p:sp>
        <p:nvSpPr>
          <p:cNvPr id="28" name="Shape 25"/>
          <p:cNvSpPr/>
          <p:nvPr/>
        </p:nvSpPr>
        <p:spPr>
          <a:xfrm>
            <a:off x="6995160" y="1920240"/>
            <a:ext cx="1188720" cy="1188720"/>
          </a:xfrm>
          <a:prstGeom prst="ellipse">
            <a:avLst/>
          </a:prstGeom>
          <a:solidFill>
            <a:srgbClr val="FFFFFF"/>
          </a:solidFill>
          <a:ln w="25400">
            <a:solidFill>
              <a:srgbClr val="8E7CC3"/>
            </a:solidFill>
            <a:prstDash val="solid"/>
          </a:ln>
        </p:spPr>
      </p:sp>
      <p:pic>
        <p:nvPicPr>
          <p:cNvPr id="29" name="Image 1" descr="CO4 icon">    </p:cNvPr>
          <p:cNvPicPr>
            <a:picLocks noChangeAspect="1"/>
          </p:cNvPicPr>
          <p:nvPr/>
        </p:nvPicPr>
        <p:blipFill>
          <a:blip r:embed="rId3"/>
          <a:stretch>
            <a:fillRect/>
          </a:stretch>
        </p:blipFill>
        <p:spPr>
          <a:xfrm>
            <a:off x="7315200" y="2240280"/>
            <a:ext cx="548640" cy="548640"/>
          </a:xfrm>
          <a:prstGeom prst="rect">
            <a:avLst/>
          </a:prstGeom>
        </p:spPr>
      </p:pic>
      <p:sp>
        <p:nvSpPr>
          <p:cNvPr id="30" name="Text 26"/>
          <p:cNvSpPr txBox="1"/>
          <p:nvPr/>
        </p:nvSpPr>
        <p:spPr>
          <a:xfrm>
            <a:off x="6583680" y="3474720"/>
            <a:ext cx="201168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CO4</a:t>
            </a:r>
            <a:endParaRPr lang="en-US" sz="28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icon circle"/>
          <p:cNvSpPr/>
          <p:nvPr/>
        </p:nvSpPr>
        <p:spPr>
          <a:xfrm>
            <a:off x="548640" y="365760"/>
            <a:ext cx="640080" cy="640080"/>
          </a:xfrm>
          <a:prstGeom prst="ellipse">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con">    </p:cNvPr>
          <p:cNvPicPr>
            <a:picLocks noChangeAspect="1"/>
          </p:cNvPicPr>
          <p:nvPr/>
        </p:nvPicPr>
        <p:blipFill>
          <a:blip r:embed="rId2"/>
          <a:stretch>
            <a:fillRect/>
          </a:stretch>
        </p:blipFill>
        <p:spPr>
          <a:xfrm>
            <a:off x="713232" y="530352"/>
            <a:ext cx="310896" cy="310896"/>
          </a:xfrm>
          <a:prstGeom prst="rect">
            <a:avLst/>
          </a:prstGeom>
        </p:spPr>
      </p:pic>
      <p:sp>
        <p:nvSpPr>
          <p:cNvPr id="4" name="Text 1"/>
          <p:cNvSpPr txBox="1"/>
          <p:nvPr/>
        </p:nvSpPr>
        <p:spPr>
          <a:xfrm>
            <a:off x="1371600" y="320040"/>
            <a:ext cx="1371600" cy="731520"/>
          </a:xfrm>
          <a:prstGeom prst="rect">
            <a:avLst/>
          </a:prstGeom>
          <a:noFill/>
          <a:ln/>
        </p:spPr>
        <p:txBody>
          <a:bodyPr wrap="square" lIns="0" tIns="0" rIns="0" bIns="0" rtlCol="0" anchor="ctr"/>
          <a:lstStyle/>
          <a:p>
            <a:pPr indent="0" marL="0">
              <a:buNone/>
            </a:pPr>
            <a:r>
              <a:rPr lang="en-US" sz="3600" b="1" dirty="0">
                <a:solidFill>
                  <a:srgbClr val="5B4B8A"/>
                </a:solidFill>
                <a:latin typeface="Cambria" pitchFamily="34" charset="0"/>
                <a:ea typeface="Cambria" pitchFamily="34" charset="-122"/>
                <a:cs typeface="Cambria" pitchFamily="34" charset="-120"/>
              </a:rPr>
              <a:t>CO5</a:t>
            </a:r>
            <a:endParaRPr lang="en-US" sz="3600" dirty="0"/>
          </a:p>
        </p:txBody>
      </p:sp>
      <p:sp>
        <p:nvSpPr>
          <p:cNvPr id="5" name="Text 2"/>
          <p:cNvSpPr txBox="1"/>
          <p:nvPr/>
        </p:nvSpPr>
        <p:spPr>
          <a:xfrm>
            <a:off x="2834640" y="320040"/>
            <a:ext cx="4572000" cy="731520"/>
          </a:xfrm>
          <a:prstGeom prst="rect">
            <a:avLst/>
          </a:prstGeom>
          <a:noFill/>
          <a:ln/>
        </p:spPr>
        <p:txBody>
          <a:bodyPr wrap="square" lIns="0" tIns="0" rIns="0" bIns="0" rtlCol="0" anchor="ctr"/>
          <a:lstStyle/>
          <a:p>
            <a:pPr indent="0" marL="0">
              <a:buNone/>
            </a:pPr>
            <a:r>
              <a:rPr lang="en-US" sz="1800" i="1" dirty="0">
                <a:solidFill>
                  <a:srgbClr val="8E7CC3"/>
                </a:solidFill>
                <a:latin typeface="Calibri" pitchFamily="34" charset="0"/>
                <a:ea typeface="Calibri" pitchFamily="34" charset="-122"/>
                <a:cs typeface="Calibri" pitchFamily="34" charset="-120"/>
              </a:rPr>
              <a:t>Strings, Files and Exceptions</a:t>
            </a:r>
            <a:endParaRPr lang="en-US" sz="1800" dirty="0"/>
          </a:p>
        </p:txBody>
      </p:sp>
      <p:sp>
        <p:nvSpPr>
          <p:cNvPr id="6" name="Topic 1"/>
          <p:cNvSpPr/>
          <p:nvPr/>
        </p:nvSpPr>
        <p:spPr>
          <a:xfrm>
            <a:off x="548640" y="1280160"/>
            <a:ext cx="2788920" cy="54864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7" name="Shape 4"/>
          <p:cNvSpPr/>
          <p:nvPr/>
        </p:nvSpPr>
        <p:spPr>
          <a:xfrm>
            <a:off x="658368" y="1380744"/>
            <a:ext cx="347472" cy="347472"/>
          </a:xfrm>
          <a:prstGeom prst="ellipse">
            <a:avLst/>
          </a:prstGeom>
          <a:solidFill>
            <a:srgbClr val="5B4B8A"/>
          </a:solidFill>
          <a:ln w="12700">
            <a:solidFill>
              <a:srgbClr val="5B4B8A"/>
            </a:solidFill>
            <a:prstDash val="solid"/>
          </a:ln>
        </p:spPr>
      </p:sp>
      <p:sp>
        <p:nvSpPr>
          <p:cNvPr id="8" name="Text 5"/>
          <p:cNvSpPr txBox="1"/>
          <p:nvPr/>
        </p:nvSpPr>
        <p:spPr>
          <a:xfrm>
            <a:off x="658368" y="13807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115568" y="1280160"/>
            <a:ext cx="2075688" cy="548640"/>
          </a:xfrm>
          <a:prstGeom prst="rect">
            <a:avLst/>
          </a:prstGeom>
          <a:noFill/>
          <a:ln/>
        </p:spPr>
        <p:txBody>
          <a:bodyPr wrap="square" lIns="0" tIns="0" rIns="0" bIns="0" rtlCol="0" anchor="ctr"/>
          <a:lstStyle/>
          <a:p>
            <a:pPr indent="0" marL="0">
              <a:buNone/>
            </a:pPr>
            <a:r>
              <a:rPr lang="en-US" sz="1400" dirty="0">
                <a:solidFill>
                  <a:srgbClr val="2E2A45"/>
                </a:solidFill>
                <a:latin typeface="Calibri" pitchFamily="34" charset="0"/>
                <a:ea typeface="Calibri" pitchFamily="34" charset="-122"/>
                <a:cs typeface="Calibri" pitchFamily="34" charset="-120"/>
              </a:rPr>
              <a:t>String handling</a:t>
            </a:r>
            <a:endParaRPr lang="en-US" sz="1400" dirty="0"/>
          </a:p>
        </p:txBody>
      </p:sp>
      <p:sp>
        <p:nvSpPr>
          <p:cNvPr id="10" name="Topic 2"/>
          <p:cNvSpPr/>
          <p:nvPr/>
        </p:nvSpPr>
        <p:spPr>
          <a:xfrm>
            <a:off x="548640" y="1965960"/>
            <a:ext cx="2788920" cy="54864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1" name="Shape 8"/>
          <p:cNvSpPr/>
          <p:nvPr/>
        </p:nvSpPr>
        <p:spPr>
          <a:xfrm>
            <a:off x="658368" y="2066544"/>
            <a:ext cx="347472" cy="347472"/>
          </a:xfrm>
          <a:prstGeom prst="ellipse">
            <a:avLst/>
          </a:prstGeom>
          <a:solidFill>
            <a:srgbClr val="5B4B8A"/>
          </a:solidFill>
          <a:ln w="12700">
            <a:solidFill>
              <a:srgbClr val="5B4B8A"/>
            </a:solidFill>
            <a:prstDash val="solid"/>
          </a:ln>
        </p:spPr>
      </p:sp>
      <p:sp>
        <p:nvSpPr>
          <p:cNvPr id="12" name="Text 9"/>
          <p:cNvSpPr txBox="1"/>
          <p:nvPr/>
        </p:nvSpPr>
        <p:spPr>
          <a:xfrm>
            <a:off x="658368" y="20665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115568" y="1965960"/>
            <a:ext cx="2075688" cy="548640"/>
          </a:xfrm>
          <a:prstGeom prst="rect">
            <a:avLst/>
          </a:prstGeom>
          <a:noFill/>
          <a:ln/>
        </p:spPr>
        <p:txBody>
          <a:bodyPr wrap="square" lIns="0" tIns="0" rIns="0" bIns="0" rtlCol="0" anchor="ctr"/>
          <a:lstStyle/>
          <a:p>
            <a:pPr indent="0" marL="0">
              <a:buNone/>
            </a:pPr>
            <a:r>
              <a:rPr lang="en-US" sz="1400" dirty="0">
                <a:solidFill>
                  <a:srgbClr val="2E2A45"/>
                </a:solidFill>
                <a:latin typeface="Calibri" pitchFamily="34" charset="0"/>
                <a:ea typeface="Calibri" pitchFamily="34" charset="-122"/>
                <a:cs typeface="Calibri" pitchFamily="34" charset="-120"/>
              </a:rPr>
              <a:t>File handling</a:t>
            </a:r>
            <a:endParaRPr lang="en-US" sz="1400" dirty="0"/>
          </a:p>
        </p:txBody>
      </p:sp>
      <p:sp>
        <p:nvSpPr>
          <p:cNvPr id="14" name="Topic 3"/>
          <p:cNvSpPr/>
          <p:nvPr/>
        </p:nvSpPr>
        <p:spPr>
          <a:xfrm>
            <a:off x="548640" y="2651760"/>
            <a:ext cx="2788920" cy="54864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5" name="Shape 12"/>
          <p:cNvSpPr/>
          <p:nvPr/>
        </p:nvSpPr>
        <p:spPr>
          <a:xfrm>
            <a:off x="658368" y="2752344"/>
            <a:ext cx="347472" cy="347472"/>
          </a:xfrm>
          <a:prstGeom prst="ellipse">
            <a:avLst/>
          </a:prstGeom>
          <a:solidFill>
            <a:srgbClr val="5B4B8A"/>
          </a:solidFill>
          <a:ln w="12700">
            <a:solidFill>
              <a:srgbClr val="5B4B8A"/>
            </a:solidFill>
            <a:prstDash val="solid"/>
          </a:ln>
        </p:spPr>
      </p:sp>
      <p:sp>
        <p:nvSpPr>
          <p:cNvPr id="16" name="Text 13"/>
          <p:cNvSpPr txBox="1"/>
          <p:nvPr/>
        </p:nvSpPr>
        <p:spPr>
          <a:xfrm>
            <a:off x="658368" y="27523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115568" y="2651760"/>
            <a:ext cx="2075688" cy="548640"/>
          </a:xfrm>
          <a:prstGeom prst="rect">
            <a:avLst/>
          </a:prstGeom>
          <a:noFill/>
          <a:ln/>
        </p:spPr>
        <p:txBody>
          <a:bodyPr wrap="square" lIns="0" tIns="0" rIns="0" bIns="0" rtlCol="0" anchor="ctr"/>
          <a:lstStyle/>
          <a:p>
            <a:pPr indent="0" marL="0">
              <a:buNone/>
            </a:pPr>
            <a:r>
              <a:rPr lang="en-US" sz="1400" dirty="0">
                <a:solidFill>
                  <a:srgbClr val="2E2A45"/>
                </a:solidFill>
                <a:latin typeface="Calibri" pitchFamily="34" charset="0"/>
                <a:ea typeface="Calibri" pitchFamily="34" charset="-122"/>
                <a:cs typeface="Calibri" pitchFamily="34" charset="-120"/>
              </a:rPr>
              <a:t>FileWriter</a:t>
            </a:r>
            <a:endParaRPr lang="en-US" sz="1400" dirty="0"/>
          </a:p>
        </p:txBody>
      </p:sp>
      <p:sp>
        <p:nvSpPr>
          <p:cNvPr id="18" name="Topic 4"/>
          <p:cNvSpPr/>
          <p:nvPr/>
        </p:nvSpPr>
        <p:spPr>
          <a:xfrm>
            <a:off x="548640" y="3337560"/>
            <a:ext cx="2788920" cy="54864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9" name="Shape 16"/>
          <p:cNvSpPr/>
          <p:nvPr/>
        </p:nvSpPr>
        <p:spPr>
          <a:xfrm>
            <a:off x="658368" y="3438144"/>
            <a:ext cx="347472" cy="347472"/>
          </a:xfrm>
          <a:prstGeom prst="ellipse">
            <a:avLst/>
          </a:prstGeom>
          <a:solidFill>
            <a:srgbClr val="5B4B8A"/>
          </a:solidFill>
          <a:ln w="12700">
            <a:solidFill>
              <a:srgbClr val="5B4B8A"/>
            </a:solidFill>
            <a:prstDash val="solid"/>
          </a:ln>
        </p:spPr>
      </p:sp>
      <p:sp>
        <p:nvSpPr>
          <p:cNvPr id="20" name="Text 17"/>
          <p:cNvSpPr txBox="1"/>
          <p:nvPr/>
        </p:nvSpPr>
        <p:spPr>
          <a:xfrm>
            <a:off x="658368" y="34381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115568" y="3337560"/>
            <a:ext cx="2075688" cy="548640"/>
          </a:xfrm>
          <a:prstGeom prst="rect">
            <a:avLst/>
          </a:prstGeom>
          <a:noFill/>
          <a:ln/>
        </p:spPr>
        <p:txBody>
          <a:bodyPr wrap="square" lIns="0" tIns="0" rIns="0" bIns="0" rtlCol="0" anchor="ctr"/>
          <a:lstStyle/>
          <a:p>
            <a:pPr indent="0" marL="0">
              <a:buNone/>
            </a:pPr>
            <a:r>
              <a:rPr lang="en-US" sz="1400" dirty="0">
                <a:solidFill>
                  <a:srgbClr val="2E2A45"/>
                </a:solidFill>
                <a:latin typeface="Calibri" pitchFamily="34" charset="0"/>
                <a:ea typeface="Calibri" pitchFamily="34" charset="-122"/>
                <a:cs typeface="Calibri" pitchFamily="34" charset="-120"/>
              </a:rPr>
              <a:t>FileReader</a:t>
            </a:r>
            <a:endParaRPr lang="en-US" sz="1400" dirty="0"/>
          </a:p>
        </p:txBody>
      </p:sp>
      <p:sp>
        <p:nvSpPr>
          <p:cNvPr id="22" name="Topic 5"/>
          <p:cNvSpPr/>
          <p:nvPr/>
        </p:nvSpPr>
        <p:spPr>
          <a:xfrm>
            <a:off x="548640" y="4023360"/>
            <a:ext cx="2788920" cy="54864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23" name="Shape 20"/>
          <p:cNvSpPr/>
          <p:nvPr/>
        </p:nvSpPr>
        <p:spPr>
          <a:xfrm>
            <a:off x="658368" y="4123944"/>
            <a:ext cx="347472" cy="347472"/>
          </a:xfrm>
          <a:prstGeom prst="ellipse">
            <a:avLst/>
          </a:prstGeom>
          <a:solidFill>
            <a:srgbClr val="5B4B8A"/>
          </a:solidFill>
          <a:ln w="12700">
            <a:solidFill>
              <a:srgbClr val="5B4B8A"/>
            </a:solidFill>
            <a:prstDash val="solid"/>
          </a:ln>
        </p:spPr>
      </p:sp>
      <p:sp>
        <p:nvSpPr>
          <p:cNvPr id="24" name="Text 21"/>
          <p:cNvSpPr txBox="1"/>
          <p:nvPr/>
        </p:nvSpPr>
        <p:spPr>
          <a:xfrm>
            <a:off x="658368" y="41239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1115568" y="4023360"/>
            <a:ext cx="2075688" cy="548640"/>
          </a:xfrm>
          <a:prstGeom prst="rect">
            <a:avLst/>
          </a:prstGeom>
          <a:noFill/>
          <a:ln/>
        </p:spPr>
        <p:txBody>
          <a:bodyPr wrap="square" lIns="0" tIns="0" rIns="0" bIns="0" rtlCol="0" anchor="ctr"/>
          <a:lstStyle/>
          <a:p>
            <a:pPr indent="0" marL="0">
              <a:buNone/>
            </a:pPr>
            <a:r>
              <a:rPr lang="en-US" sz="1400" dirty="0">
                <a:solidFill>
                  <a:srgbClr val="2E2A45"/>
                </a:solidFill>
                <a:latin typeface="Calibri" pitchFamily="34" charset="0"/>
                <a:ea typeface="Calibri" pitchFamily="34" charset="-122"/>
                <a:cs typeface="Calibri" pitchFamily="34" charset="-120"/>
              </a:rPr>
              <a:t>BufferedReader</a:t>
            </a:r>
            <a:endParaRPr lang="en-US" sz="1400" dirty="0"/>
          </a:p>
        </p:txBody>
      </p:sp>
      <p:sp>
        <p:nvSpPr>
          <p:cNvPr id="26" name="Topic 6"/>
          <p:cNvSpPr/>
          <p:nvPr/>
        </p:nvSpPr>
        <p:spPr>
          <a:xfrm>
            <a:off x="3520440" y="1280160"/>
            <a:ext cx="2788920" cy="54864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27" name="Shape 24"/>
          <p:cNvSpPr/>
          <p:nvPr/>
        </p:nvSpPr>
        <p:spPr>
          <a:xfrm>
            <a:off x="3630168" y="1380744"/>
            <a:ext cx="347472" cy="347472"/>
          </a:xfrm>
          <a:prstGeom prst="ellipse">
            <a:avLst/>
          </a:prstGeom>
          <a:solidFill>
            <a:srgbClr val="5B4B8A"/>
          </a:solidFill>
          <a:ln w="12700">
            <a:solidFill>
              <a:srgbClr val="5B4B8A"/>
            </a:solidFill>
            <a:prstDash val="solid"/>
          </a:ln>
        </p:spPr>
      </p:sp>
      <p:sp>
        <p:nvSpPr>
          <p:cNvPr id="28" name="Text 25"/>
          <p:cNvSpPr txBox="1"/>
          <p:nvPr/>
        </p:nvSpPr>
        <p:spPr>
          <a:xfrm>
            <a:off x="3630168" y="13807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9" name="Text 26"/>
          <p:cNvSpPr txBox="1"/>
          <p:nvPr/>
        </p:nvSpPr>
        <p:spPr>
          <a:xfrm>
            <a:off x="4087368" y="1280160"/>
            <a:ext cx="2075688" cy="548640"/>
          </a:xfrm>
          <a:prstGeom prst="rect">
            <a:avLst/>
          </a:prstGeom>
          <a:noFill/>
          <a:ln/>
        </p:spPr>
        <p:txBody>
          <a:bodyPr wrap="square" lIns="0" tIns="0" rIns="0" bIns="0" rtlCol="0" anchor="ctr"/>
          <a:lstStyle/>
          <a:p>
            <a:pPr indent="0" marL="0">
              <a:buNone/>
            </a:pPr>
            <a:r>
              <a:rPr lang="en-US" sz="1400" dirty="0">
                <a:solidFill>
                  <a:srgbClr val="2E2A45"/>
                </a:solidFill>
                <a:latin typeface="Calibri" pitchFamily="34" charset="0"/>
                <a:ea typeface="Calibri" pitchFamily="34" charset="-122"/>
                <a:cs typeface="Calibri" pitchFamily="34" charset="-120"/>
              </a:rPr>
              <a:t>File appending and line-by-line reading</a:t>
            </a:r>
            <a:endParaRPr lang="en-US" sz="1400" dirty="0"/>
          </a:p>
        </p:txBody>
      </p:sp>
      <p:sp>
        <p:nvSpPr>
          <p:cNvPr id="30" name="Topic 7"/>
          <p:cNvSpPr/>
          <p:nvPr/>
        </p:nvSpPr>
        <p:spPr>
          <a:xfrm>
            <a:off x="3520440" y="1965960"/>
            <a:ext cx="2788920" cy="54864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31" name="Shape 28"/>
          <p:cNvSpPr/>
          <p:nvPr/>
        </p:nvSpPr>
        <p:spPr>
          <a:xfrm>
            <a:off x="3630168" y="2066544"/>
            <a:ext cx="347472" cy="347472"/>
          </a:xfrm>
          <a:prstGeom prst="ellipse">
            <a:avLst/>
          </a:prstGeom>
          <a:solidFill>
            <a:srgbClr val="5B4B8A"/>
          </a:solidFill>
          <a:ln w="12700">
            <a:solidFill>
              <a:srgbClr val="5B4B8A"/>
            </a:solidFill>
            <a:prstDash val="solid"/>
          </a:ln>
        </p:spPr>
      </p:sp>
      <p:sp>
        <p:nvSpPr>
          <p:cNvPr id="32" name="Text 29"/>
          <p:cNvSpPr txBox="1"/>
          <p:nvPr/>
        </p:nvSpPr>
        <p:spPr>
          <a:xfrm>
            <a:off x="3630168" y="20665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3" name="Text 30"/>
          <p:cNvSpPr txBox="1"/>
          <p:nvPr/>
        </p:nvSpPr>
        <p:spPr>
          <a:xfrm>
            <a:off x="4087368" y="1965960"/>
            <a:ext cx="2075688" cy="548640"/>
          </a:xfrm>
          <a:prstGeom prst="rect">
            <a:avLst/>
          </a:prstGeom>
          <a:noFill/>
          <a:ln/>
        </p:spPr>
        <p:txBody>
          <a:bodyPr wrap="square" lIns="0" tIns="0" rIns="0" bIns="0" rtlCol="0" anchor="ctr"/>
          <a:lstStyle/>
          <a:p>
            <a:pPr indent="0" marL="0">
              <a:buNone/>
            </a:pPr>
            <a:r>
              <a:rPr lang="en-US" sz="1400" dirty="0">
                <a:solidFill>
                  <a:srgbClr val="2E2A45"/>
                </a:solidFill>
                <a:latin typeface="Calibri" pitchFamily="34" charset="0"/>
                <a:ea typeface="Calibri" pitchFamily="34" charset="-122"/>
                <a:cs typeface="Calibri" pitchFamily="34" charset="-120"/>
              </a:rPr>
              <a:t>Exception handling (try-catch)</a:t>
            </a:r>
            <a:endParaRPr lang="en-US" sz="1400" dirty="0"/>
          </a:p>
        </p:txBody>
      </p:sp>
      <p:sp>
        <p:nvSpPr>
          <p:cNvPr id="34" name="Topic 8"/>
          <p:cNvSpPr/>
          <p:nvPr/>
        </p:nvSpPr>
        <p:spPr>
          <a:xfrm>
            <a:off x="3520440" y="2651760"/>
            <a:ext cx="2788920" cy="54864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35" name="Shape 32"/>
          <p:cNvSpPr/>
          <p:nvPr/>
        </p:nvSpPr>
        <p:spPr>
          <a:xfrm>
            <a:off x="3630168" y="2752344"/>
            <a:ext cx="347472" cy="347472"/>
          </a:xfrm>
          <a:prstGeom prst="ellipse">
            <a:avLst/>
          </a:prstGeom>
          <a:solidFill>
            <a:srgbClr val="5B4B8A"/>
          </a:solidFill>
          <a:ln w="12700">
            <a:solidFill>
              <a:srgbClr val="5B4B8A"/>
            </a:solidFill>
            <a:prstDash val="solid"/>
          </a:ln>
        </p:spPr>
      </p:sp>
      <p:sp>
        <p:nvSpPr>
          <p:cNvPr id="36" name="Text 33"/>
          <p:cNvSpPr txBox="1"/>
          <p:nvPr/>
        </p:nvSpPr>
        <p:spPr>
          <a:xfrm>
            <a:off x="3630168" y="27523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7" name="Text 34"/>
          <p:cNvSpPr txBox="1"/>
          <p:nvPr/>
        </p:nvSpPr>
        <p:spPr>
          <a:xfrm>
            <a:off x="4087368" y="2651760"/>
            <a:ext cx="2075688" cy="548640"/>
          </a:xfrm>
          <a:prstGeom prst="rect">
            <a:avLst/>
          </a:prstGeom>
          <a:noFill/>
          <a:ln/>
        </p:spPr>
        <p:txBody>
          <a:bodyPr wrap="square" lIns="0" tIns="0" rIns="0" bIns="0" rtlCol="0" anchor="ctr"/>
          <a:lstStyle/>
          <a:p>
            <a:pPr indent="0" marL="0">
              <a:buNone/>
            </a:pPr>
            <a:r>
              <a:rPr lang="en-US" sz="1400" dirty="0">
                <a:solidFill>
                  <a:srgbClr val="2E2A45"/>
                </a:solidFill>
                <a:latin typeface="Calibri" pitchFamily="34" charset="0"/>
                <a:ea typeface="Calibri" pitchFamily="34" charset="-122"/>
                <a:cs typeface="Calibri" pitchFamily="34" charset="-120"/>
              </a:rPr>
              <a:t>IOException</a:t>
            </a:r>
            <a:endParaRPr lang="en-US" sz="1400" dirty="0"/>
          </a:p>
        </p:txBody>
      </p:sp>
      <p:sp>
        <p:nvSpPr>
          <p:cNvPr id="38" name="Topic 9"/>
          <p:cNvSpPr/>
          <p:nvPr/>
        </p:nvSpPr>
        <p:spPr>
          <a:xfrm>
            <a:off x="3520440" y="3337560"/>
            <a:ext cx="2788920" cy="54864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39" name="Shape 36"/>
          <p:cNvSpPr/>
          <p:nvPr/>
        </p:nvSpPr>
        <p:spPr>
          <a:xfrm>
            <a:off x="3630168" y="3438144"/>
            <a:ext cx="347472" cy="347472"/>
          </a:xfrm>
          <a:prstGeom prst="ellipse">
            <a:avLst/>
          </a:prstGeom>
          <a:solidFill>
            <a:srgbClr val="5B4B8A"/>
          </a:solidFill>
          <a:ln w="12700">
            <a:solidFill>
              <a:srgbClr val="5B4B8A"/>
            </a:solidFill>
            <a:prstDash val="solid"/>
          </a:ln>
        </p:spPr>
      </p:sp>
      <p:sp>
        <p:nvSpPr>
          <p:cNvPr id="40" name="Text 37"/>
          <p:cNvSpPr txBox="1"/>
          <p:nvPr/>
        </p:nvSpPr>
        <p:spPr>
          <a:xfrm>
            <a:off x="3630168" y="34381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41" name="Text 38"/>
          <p:cNvSpPr txBox="1"/>
          <p:nvPr/>
        </p:nvSpPr>
        <p:spPr>
          <a:xfrm>
            <a:off x="4087368" y="3337560"/>
            <a:ext cx="2075688" cy="548640"/>
          </a:xfrm>
          <a:prstGeom prst="rect">
            <a:avLst/>
          </a:prstGeom>
          <a:noFill/>
          <a:ln/>
        </p:spPr>
        <p:txBody>
          <a:bodyPr wrap="square" lIns="0" tIns="0" rIns="0" bIns="0" rtlCol="0" anchor="ctr"/>
          <a:lstStyle/>
          <a:p>
            <a:pPr indent="0" marL="0">
              <a:buNone/>
            </a:pPr>
            <a:r>
              <a:rPr lang="en-US" sz="1400" dirty="0">
                <a:solidFill>
                  <a:srgbClr val="2E2A45"/>
                </a:solidFill>
                <a:latin typeface="Calibri" pitchFamily="34" charset="0"/>
                <a:ea typeface="Calibri" pitchFamily="34" charset="-122"/>
                <a:cs typeface="Calibri" pitchFamily="34" charset="-120"/>
              </a:rPr>
              <a:t>Try-with-resources</a:t>
            </a:r>
            <a:endParaRPr lang="en-US" sz="1400" dirty="0"/>
          </a:p>
        </p:txBody>
      </p:sp>
      <p:sp>
        <p:nvSpPr>
          <p:cNvPr id="42" name="Icon panel"/>
          <p:cNvSpPr/>
          <p:nvPr/>
        </p:nvSpPr>
        <p:spPr>
          <a:xfrm>
            <a:off x="6583680" y="1280160"/>
            <a:ext cx="2011680" cy="3291840"/>
          </a:xfrm>
          <a:prstGeom prst="roundRect">
            <a:avLst>
              <a:gd name="adj" fmla="val 9091"/>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sp>
        <p:nvSpPr>
          <p:cNvPr id="43" name="Shape 40"/>
          <p:cNvSpPr/>
          <p:nvPr/>
        </p:nvSpPr>
        <p:spPr>
          <a:xfrm>
            <a:off x="6858000" y="1783080"/>
            <a:ext cx="1463040" cy="1463040"/>
          </a:xfrm>
          <a:prstGeom prst="ellipse">
            <a:avLst/>
          </a:prstGeom>
          <a:solidFill>
            <a:srgbClr val="FFFFFF">
              <a:alpha val="15000"/>
            </a:srgbClr>
          </a:solidFill>
          <a:ln w="19050">
            <a:solidFill>
              <a:srgbClr val="FFFFFF"/>
            </a:solidFill>
            <a:prstDash val="solid"/>
          </a:ln>
        </p:spPr>
      </p:sp>
      <p:sp>
        <p:nvSpPr>
          <p:cNvPr id="44" name="Shape 41"/>
          <p:cNvSpPr/>
          <p:nvPr/>
        </p:nvSpPr>
        <p:spPr>
          <a:xfrm>
            <a:off x="6995160" y="1920240"/>
            <a:ext cx="1188720" cy="1188720"/>
          </a:xfrm>
          <a:prstGeom prst="ellipse">
            <a:avLst/>
          </a:prstGeom>
          <a:solidFill>
            <a:srgbClr val="FFFFFF"/>
          </a:solidFill>
          <a:ln w="25400">
            <a:solidFill>
              <a:srgbClr val="8E7CC3"/>
            </a:solidFill>
            <a:prstDash val="solid"/>
          </a:ln>
        </p:spPr>
      </p:sp>
      <p:pic>
        <p:nvPicPr>
          <p:cNvPr id="45" name="Image 1" descr="CO5 icon">    </p:cNvPr>
          <p:cNvPicPr>
            <a:picLocks noChangeAspect="1"/>
          </p:cNvPicPr>
          <p:nvPr/>
        </p:nvPicPr>
        <p:blipFill>
          <a:blip r:embed="rId3"/>
          <a:stretch>
            <a:fillRect/>
          </a:stretch>
        </p:blipFill>
        <p:spPr>
          <a:xfrm>
            <a:off x="7315200" y="2240280"/>
            <a:ext cx="548640" cy="548640"/>
          </a:xfrm>
          <a:prstGeom prst="rect">
            <a:avLst/>
          </a:prstGeom>
        </p:spPr>
      </p:pic>
      <p:sp>
        <p:nvSpPr>
          <p:cNvPr id="46" name="Text 42"/>
          <p:cNvSpPr txBox="1"/>
          <p:nvPr/>
        </p:nvSpPr>
        <p:spPr>
          <a:xfrm>
            <a:off x="6583680" y="3474720"/>
            <a:ext cx="201168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CO5</a:t>
            </a:r>
            <a:endParaRPr lang="en-US" sz="28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icon circle"/>
          <p:cNvSpPr/>
          <p:nvPr/>
        </p:nvSpPr>
        <p:spPr>
          <a:xfrm>
            <a:off x="548640" y="365760"/>
            <a:ext cx="640080" cy="640080"/>
          </a:xfrm>
          <a:prstGeom prst="ellipse">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con">    </p:cNvPr>
          <p:cNvPicPr>
            <a:picLocks noChangeAspect="1"/>
          </p:cNvPicPr>
          <p:nvPr/>
        </p:nvPicPr>
        <p:blipFill>
          <a:blip r:embed="rId2"/>
          <a:stretch>
            <a:fillRect/>
          </a:stretch>
        </p:blipFill>
        <p:spPr>
          <a:xfrm>
            <a:off x="713232" y="530352"/>
            <a:ext cx="310896" cy="310896"/>
          </a:xfrm>
          <a:prstGeom prst="rect">
            <a:avLst/>
          </a:prstGeom>
        </p:spPr>
      </p:pic>
      <p:sp>
        <p:nvSpPr>
          <p:cNvPr id="4" name="Text 1"/>
          <p:cNvSpPr txBox="1"/>
          <p:nvPr/>
        </p:nvSpPr>
        <p:spPr>
          <a:xfrm>
            <a:off x="1371600" y="320040"/>
            <a:ext cx="1371600" cy="731520"/>
          </a:xfrm>
          <a:prstGeom prst="rect">
            <a:avLst/>
          </a:prstGeom>
          <a:noFill/>
          <a:ln/>
        </p:spPr>
        <p:txBody>
          <a:bodyPr wrap="square" lIns="0" tIns="0" rIns="0" bIns="0" rtlCol="0" anchor="ctr"/>
          <a:lstStyle/>
          <a:p>
            <a:pPr indent="0" marL="0">
              <a:buNone/>
            </a:pPr>
            <a:r>
              <a:rPr lang="en-US" sz="3600" b="1" dirty="0">
                <a:solidFill>
                  <a:srgbClr val="5B4B8A"/>
                </a:solidFill>
                <a:latin typeface="Cambria" pitchFamily="34" charset="0"/>
                <a:ea typeface="Cambria" pitchFamily="34" charset="-122"/>
                <a:cs typeface="Cambria" pitchFamily="34" charset="-120"/>
              </a:rPr>
              <a:t>CO6</a:t>
            </a:r>
            <a:endParaRPr lang="en-US" sz="3600" dirty="0"/>
          </a:p>
        </p:txBody>
      </p:sp>
      <p:sp>
        <p:nvSpPr>
          <p:cNvPr id="5" name="Text 2"/>
          <p:cNvSpPr txBox="1"/>
          <p:nvPr/>
        </p:nvSpPr>
        <p:spPr>
          <a:xfrm>
            <a:off x="2834640" y="320040"/>
            <a:ext cx="4572000" cy="731520"/>
          </a:xfrm>
          <a:prstGeom prst="rect">
            <a:avLst/>
          </a:prstGeom>
          <a:noFill/>
          <a:ln/>
        </p:spPr>
        <p:txBody>
          <a:bodyPr wrap="square" lIns="0" tIns="0" rIns="0" bIns="0" rtlCol="0" anchor="ctr"/>
          <a:lstStyle/>
          <a:p>
            <a:pPr indent="0" marL="0">
              <a:buNone/>
            </a:pPr>
            <a:r>
              <a:rPr lang="en-US" sz="1800" i="1" dirty="0">
                <a:solidFill>
                  <a:srgbClr val="8E7CC3"/>
                </a:solidFill>
                <a:latin typeface="Calibri" pitchFamily="34" charset="0"/>
                <a:ea typeface="Calibri" pitchFamily="34" charset="-122"/>
                <a:cs typeface="Calibri" pitchFamily="34" charset="-120"/>
              </a:rPr>
              <a:t>Collections and Streams</a:t>
            </a:r>
            <a:endParaRPr lang="en-US" sz="1800" dirty="0"/>
          </a:p>
        </p:txBody>
      </p:sp>
      <p:sp>
        <p:nvSpPr>
          <p:cNvPr id="6" name="Topic 1"/>
          <p:cNvSpPr/>
          <p:nvPr/>
        </p:nvSpPr>
        <p:spPr>
          <a:xfrm>
            <a:off x="548640" y="1389888"/>
            <a:ext cx="5760720" cy="685800"/>
          </a:xfrm>
          <a:prstGeom prst="roundRect">
            <a:avLst>
              <a:gd name="adj" fmla="val 4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7" name="Shape 4"/>
          <p:cNvSpPr/>
          <p:nvPr/>
        </p:nvSpPr>
        <p:spPr>
          <a:xfrm>
            <a:off x="658368" y="1559052"/>
            <a:ext cx="347472" cy="347472"/>
          </a:xfrm>
          <a:prstGeom prst="ellipse">
            <a:avLst/>
          </a:prstGeom>
          <a:solidFill>
            <a:srgbClr val="5B4B8A"/>
          </a:solidFill>
          <a:ln w="12700">
            <a:solidFill>
              <a:srgbClr val="5B4B8A"/>
            </a:solidFill>
            <a:prstDash val="solid"/>
          </a:ln>
        </p:spPr>
      </p:sp>
      <p:sp>
        <p:nvSpPr>
          <p:cNvPr id="8" name="Text 5"/>
          <p:cNvSpPr txBox="1"/>
          <p:nvPr/>
        </p:nvSpPr>
        <p:spPr>
          <a:xfrm>
            <a:off x="658368" y="15590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115568" y="1389888"/>
            <a:ext cx="5047488" cy="685800"/>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Collections (ArrayList)</a:t>
            </a:r>
            <a:endParaRPr lang="en-US" sz="1800" dirty="0"/>
          </a:p>
        </p:txBody>
      </p:sp>
      <p:sp>
        <p:nvSpPr>
          <p:cNvPr id="10" name="Topic 2"/>
          <p:cNvSpPr/>
          <p:nvPr/>
        </p:nvSpPr>
        <p:spPr>
          <a:xfrm>
            <a:off x="548640" y="2185416"/>
            <a:ext cx="5760720" cy="685800"/>
          </a:xfrm>
          <a:prstGeom prst="roundRect">
            <a:avLst>
              <a:gd name="adj" fmla="val 4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1" name="Shape 8"/>
          <p:cNvSpPr/>
          <p:nvPr/>
        </p:nvSpPr>
        <p:spPr>
          <a:xfrm>
            <a:off x="658368" y="2354580"/>
            <a:ext cx="347472" cy="347472"/>
          </a:xfrm>
          <a:prstGeom prst="ellipse">
            <a:avLst/>
          </a:prstGeom>
          <a:solidFill>
            <a:srgbClr val="5B4B8A"/>
          </a:solidFill>
          <a:ln w="12700">
            <a:solidFill>
              <a:srgbClr val="5B4B8A"/>
            </a:solidFill>
            <a:prstDash val="solid"/>
          </a:ln>
        </p:spPr>
      </p:sp>
      <p:sp>
        <p:nvSpPr>
          <p:cNvPr id="12" name="Text 9"/>
          <p:cNvSpPr txBox="1"/>
          <p:nvPr/>
        </p:nvSpPr>
        <p:spPr>
          <a:xfrm>
            <a:off x="658368" y="23545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115568" y="2185416"/>
            <a:ext cx="5047488" cy="685800"/>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Generics</a:t>
            </a:r>
            <a:endParaRPr lang="en-US" sz="1800" dirty="0"/>
          </a:p>
        </p:txBody>
      </p:sp>
      <p:sp>
        <p:nvSpPr>
          <p:cNvPr id="14" name="Topic 3"/>
          <p:cNvSpPr/>
          <p:nvPr/>
        </p:nvSpPr>
        <p:spPr>
          <a:xfrm>
            <a:off x="548640" y="2980944"/>
            <a:ext cx="5760720" cy="685800"/>
          </a:xfrm>
          <a:prstGeom prst="roundRect">
            <a:avLst>
              <a:gd name="adj" fmla="val 4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5" name="Shape 12"/>
          <p:cNvSpPr/>
          <p:nvPr/>
        </p:nvSpPr>
        <p:spPr>
          <a:xfrm>
            <a:off x="658368" y="3150108"/>
            <a:ext cx="347472" cy="347472"/>
          </a:xfrm>
          <a:prstGeom prst="ellipse">
            <a:avLst/>
          </a:prstGeom>
          <a:solidFill>
            <a:srgbClr val="5B4B8A"/>
          </a:solidFill>
          <a:ln w="12700">
            <a:solidFill>
              <a:srgbClr val="5B4B8A"/>
            </a:solidFill>
            <a:prstDash val="solid"/>
          </a:ln>
        </p:spPr>
      </p:sp>
      <p:sp>
        <p:nvSpPr>
          <p:cNvPr id="16" name="Text 13"/>
          <p:cNvSpPr txBox="1"/>
          <p:nvPr/>
        </p:nvSpPr>
        <p:spPr>
          <a:xfrm>
            <a:off x="658368" y="31501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115568" y="2980944"/>
            <a:ext cx="5047488" cy="685800"/>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Stream API</a:t>
            </a:r>
            <a:endParaRPr lang="en-US" sz="1800" dirty="0"/>
          </a:p>
        </p:txBody>
      </p:sp>
      <p:sp>
        <p:nvSpPr>
          <p:cNvPr id="18" name="Topic 4"/>
          <p:cNvSpPr/>
          <p:nvPr/>
        </p:nvSpPr>
        <p:spPr>
          <a:xfrm>
            <a:off x="548640" y="3776472"/>
            <a:ext cx="5760720" cy="685800"/>
          </a:xfrm>
          <a:prstGeom prst="roundRect">
            <a:avLst>
              <a:gd name="adj" fmla="val 4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9" name="Shape 16"/>
          <p:cNvSpPr/>
          <p:nvPr/>
        </p:nvSpPr>
        <p:spPr>
          <a:xfrm>
            <a:off x="658368" y="3945636"/>
            <a:ext cx="347472" cy="347472"/>
          </a:xfrm>
          <a:prstGeom prst="ellipse">
            <a:avLst/>
          </a:prstGeom>
          <a:solidFill>
            <a:srgbClr val="5B4B8A"/>
          </a:solidFill>
          <a:ln w="12700">
            <a:solidFill>
              <a:srgbClr val="5B4B8A"/>
            </a:solidFill>
            <a:prstDash val="solid"/>
          </a:ln>
        </p:spPr>
      </p:sp>
      <p:sp>
        <p:nvSpPr>
          <p:cNvPr id="20" name="Text 17"/>
          <p:cNvSpPr txBox="1"/>
          <p:nvPr/>
        </p:nvSpPr>
        <p:spPr>
          <a:xfrm>
            <a:off x="658368" y="39456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115568" y="3776472"/>
            <a:ext cx="5047488" cy="685800"/>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Lambda expressions</a:t>
            </a:r>
            <a:endParaRPr lang="en-US" sz="1800" dirty="0"/>
          </a:p>
        </p:txBody>
      </p:sp>
      <p:sp>
        <p:nvSpPr>
          <p:cNvPr id="22" name="Icon panel"/>
          <p:cNvSpPr/>
          <p:nvPr/>
        </p:nvSpPr>
        <p:spPr>
          <a:xfrm>
            <a:off x="6583680" y="1280160"/>
            <a:ext cx="2011680" cy="3291840"/>
          </a:xfrm>
          <a:prstGeom prst="roundRect">
            <a:avLst>
              <a:gd name="adj" fmla="val 9091"/>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sp>
        <p:nvSpPr>
          <p:cNvPr id="23" name="Shape 20"/>
          <p:cNvSpPr/>
          <p:nvPr/>
        </p:nvSpPr>
        <p:spPr>
          <a:xfrm>
            <a:off x="6858000" y="1783080"/>
            <a:ext cx="1463040" cy="1463040"/>
          </a:xfrm>
          <a:prstGeom prst="ellipse">
            <a:avLst/>
          </a:prstGeom>
          <a:solidFill>
            <a:srgbClr val="FFFFFF">
              <a:alpha val="15000"/>
            </a:srgbClr>
          </a:solidFill>
          <a:ln w="19050">
            <a:solidFill>
              <a:srgbClr val="FFFFFF"/>
            </a:solidFill>
            <a:prstDash val="solid"/>
          </a:ln>
        </p:spPr>
      </p:sp>
      <p:sp>
        <p:nvSpPr>
          <p:cNvPr id="24" name="Shape 21"/>
          <p:cNvSpPr/>
          <p:nvPr/>
        </p:nvSpPr>
        <p:spPr>
          <a:xfrm>
            <a:off x="6995160" y="1920240"/>
            <a:ext cx="1188720" cy="1188720"/>
          </a:xfrm>
          <a:prstGeom prst="ellipse">
            <a:avLst/>
          </a:prstGeom>
          <a:solidFill>
            <a:srgbClr val="FFFFFF"/>
          </a:solidFill>
          <a:ln w="25400">
            <a:solidFill>
              <a:srgbClr val="8E7CC3"/>
            </a:solidFill>
            <a:prstDash val="solid"/>
          </a:ln>
        </p:spPr>
      </p:sp>
      <p:pic>
        <p:nvPicPr>
          <p:cNvPr id="25" name="Image 1" descr="CO6 icon">    </p:cNvPr>
          <p:cNvPicPr>
            <a:picLocks noChangeAspect="1"/>
          </p:cNvPicPr>
          <p:nvPr/>
        </p:nvPicPr>
        <p:blipFill>
          <a:blip r:embed="rId3"/>
          <a:stretch>
            <a:fillRect/>
          </a:stretch>
        </p:blipFill>
        <p:spPr>
          <a:xfrm>
            <a:off x="7315200" y="2240280"/>
            <a:ext cx="548640" cy="548640"/>
          </a:xfrm>
          <a:prstGeom prst="rect">
            <a:avLst/>
          </a:prstGeom>
        </p:spPr>
      </p:pic>
      <p:sp>
        <p:nvSpPr>
          <p:cNvPr id="26" name="Text 22"/>
          <p:cNvSpPr txBox="1"/>
          <p:nvPr/>
        </p:nvSpPr>
        <p:spPr>
          <a:xfrm>
            <a:off x="6583680" y="3474720"/>
            <a:ext cx="201168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CO6</a:t>
            </a:r>
            <a:endParaRPr lang="en-US" sz="28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icon circle"/>
          <p:cNvSpPr/>
          <p:nvPr/>
        </p:nvSpPr>
        <p:spPr>
          <a:xfrm>
            <a:off x="548640" y="365760"/>
            <a:ext cx="640080" cy="640080"/>
          </a:xfrm>
          <a:prstGeom prst="ellipse">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con">    </p:cNvPr>
          <p:cNvPicPr>
            <a:picLocks noChangeAspect="1"/>
          </p:cNvPicPr>
          <p:nvPr/>
        </p:nvPicPr>
        <p:blipFill>
          <a:blip r:embed="rId2"/>
          <a:stretch>
            <a:fillRect/>
          </a:stretch>
        </p:blipFill>
        <p:spPr>
          <a:xfrm>
            <a:off x="713232" y="530352"/>
            <a:ext cx="310896" cy="310896"/>
          </a:xfrm>
          <a:prstGeom prst="rect">
            <a:avLst/>
          </a:prstGeom>
        </p:spPr>
      </p:pic>
      <p:sp>
        <p:nvSpPr>
          <p:cNvPr id="4" name="Text 1"/>
          <p:cNvSpPr txBox="1"/>
          <p:nvPr/>
        </p:nvSpPr>
        <p:spPr>
          <a:xfrm>
            <a:off x="1371600" y="320040"/>
            <a:ext cx="6858000" cy="731520"/>
          </a:xfrm>
          <a:prstGeom prst="rect">
            <a:avLst/>
          </a:prstGeom>
          <a:noFill/>
          <a:ln/>
        </p:spPr>
        <p:txBody>
          <a:bodyPr wrap="square" lIns="0" tIns="0" rIns="0" bIns="0" rtlCol="0" anchor="ctr"/>
          <a:lstStyle/>
          <a:p>
            <a:pPr indent="0" marL="0">
              <a:buNone/>
            </a:pPr>
            <a:r>
              <a:rPr lang="en-US" sz="3600" b="1" dirty="0">
                <a:solidFill>
                  <a:srgbClr val="5B4B8A"/>
                </a:solidFill>
                <a:latin typeface="Cambria" pitchFamily="34" charset="0"/>
                <a:ea typeface="Cambria" pitchFamily="34" charset="-122"/>
                <a:cs typeface="Cambria" pitchFamily="34" charset="-120"/>
              </a:rPr>
              <a:t>Output</a:t>
            </a:r>
            <a:endParaRPr lang="en-US" sz="3600" dirty="0"/>
          </a:p>
        </p:txBody>
      </p:sp>
      <p:sp>
        <p:nvSpPr>
          <p:cNvPr id="5" name="Output frame 1"/>
          <p:cNvSpPr/>
          <p:nvPr/>
        </p:nvSpPr>
        <p:spPr>
          <a:xfrm>
            <a:off x="512064" y="1152144"/>
            <a:ext cx="2359152" cy="1710354"/>
          </a:xfrm>
          <a:prstGeom prst="rect">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pic>
        <p:nvPicPr>
          <p:cNvPr id="6" name="Image 1" descr="Program output screenshot 1">    </p:cNvPr>
          <p:cNvPicPr>
            <a:picLocks noChangeAspect="1"/>
          </p:cNvPicPr>
          <p:nvPr/>
        </p:nvPicPr>
        <p:blipFill>
          <a:blip r:embed="rId3"/>
          <a:stretch>
            <a:fillRect/>
          </a:stretch>
        </p:blipFill>
        <p:spPr>
          <a:xfrm>
            <a:off x="548640" y="1188720"/>
            <a:ext cx="2286000" cy="1637202"/>
          </a:xfrm>
          <a:prstGeom prst="rect">
            <a:avLst/>
          </a:prstGeom>
        </p:spPr>
      </p:pic>
      <p:sp>
        <p:nvSpPr>
          <p:cNvPr id="7" name="Badge 1"/>
          <p:cNvSpPr/>
          <p:nvPr/>
        </p:nvSpPr>
        <p:spPr>
          <a:xfrm>
            <a:off x="2651760" y="1060704"/>
            <a:ext cx="310896" cy="310896"/>
          </a:xfrm>
          <a:prstGeom prst="ellipse">
            <a:avLst/>
          </a:prstGeom>
          <a:solidFill>
            <a:srgbClr val="5B4B8A"/>
          </a:solidFill>
          <a:ln w="19050">
            <a:solidFill>
              <a:srgbClr val="FFFFFF"/>
            </a:solidFill>
            <a:prstDash val="solid"/>
          </a:ln>
        </p:spPr>
      </p:sp>
      <p:sp>
        <p:nvSpPr>
          <p:cNvPr id="8" name="Text 4"/>
          <p:cNvSpPr txBox="1"/>
          <p:nvPr/>
        </p:nvSpPr>
        <p:spPr>
          <a:xfrm>
            <a:off x="2651760" y="10607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Output frame 2"/>
          <p:cNvSpPr/>
          <p:nvPr/>
        </p:nvSpPr>
        <p:spPr>
          <a:xfrm>
            <a:off x="2980944" y="1152144"/>
            <a:ext cx="2359152" cy="1699134"/>
          </a:xfrm>
          <a:prstGeom prst="rect">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pic>
        <p:nvPicPr>
          <p:cNvPr id="10" name="Image 2" descr="Program output screenshot 2">    </p:cNvPr>
          <p:cNvPicPr>
            <a:picLocks noChangeAspect="1"/>
          </p:cNvPicPr>
          <p:nvPr/>
        </p:nvPicPr>
        <p:blipFill>
          <a:blip r:embed="rId4"/>
          <a:stretch>
            <a:fillRect/>
          </a:stretch>
        </p:blipFill>
        <p:spPr>
          <a:xfrm>
            <a:off x="3017520" y="1188720"/>
            <a:ext cx="2286000" cy="1625982"/>
          </a:xfrm>
          <a:prstGeom prst="rect">
            <a:avLst/>
          </a:prstGeom>
        </p:spPr>
      </p:pic>
      <p:sp>
        <p:nvSpPr>
          <p:cNvPr id="11" name="Badge 2"/>
          <p:cNvSpPr/>
          <p:nvPr/>
        </p:nvSpPr>
        <p:spPr>
          <a:xfrm>
            <a:off x="5120640" y="1060704"/>
            <a:ext cx="310896" cy="310896"/>
          </a:xfrm>
          <a:prstGeom prst="ellipse">
            <a:avLst/>
          </a:prstGeom>
          <a:solidFill>
            <a:srgbClr val="5B4B8A"/>
          </a:solidFill>
          <a:ln w="19050">
            <a:solidFill>
              <a:srgbClr val="FFFFFF"/>
            </a:solidFill>
            <a:prstDash val="solid"/>
          </a:ln>
        </p:spPr>
      </p:sp>
      <p:sp>
        <p:nvSpPr>
          <p:cNvPr id="12" name="Text 7"/>
          <p:cNvSpPr txBox="1"/>
          <p:nvPr/>
        </p:nvSpPr>
        <p:spPr>
          <a:xfrm>
            <a:off x="5120640" y="10607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Output frame 3"/>
          <p:cNvSpPr/>
          <p:nvPr/>
        </p:nvSpPr>
        <p:spPr>
          <a:xfrm>
            <a:off x="512064" y="2972226"/>
            <a:ext cx="2359152" cy="1699134"/>
          </a:xfrm>
          <a:prstGeom prst="rect">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pic>
        <p:nvPicPr>
          <p:cNvPr id="14" name="Image 3" descr="Program output screenshot 3">    </p:cNvPr>
          <p:cNvPicPr>
            <a:picLocks noChangeAspect="1"/>
          </p:cNvPicPr>
          <p:nvPr/>
        </p:nvPicPr>
        <p:blipFill>
          <a:blip r:embed="rId5"/>
          <a:stretch>
            <a:fillRect/>
          </a:stretch>
        </p:blipFill>
        <p:spPr>
          <a:xfrm>
            <a:off x="548640" y="3008802"/>
            <a:ext cx="2286000" cy="1625982"/>
          </a:xfrm>
          <a:prstGeom prst="rect">
            <a:avLst/>
          </a:prstGeom>
        </p:spPr>
      </p:pic>
      <p:sp>
        <p:nvSpPr>
          <p:cNvPr id="15" name="Badge 3"/>
          <p:cNvSpPr/>
          <p:nvPr/>
        </p:nvSpPr>
        <p:spPr>
          <a:xfrm>
            <a:off x="2651760" y="2880786"/>
            <a:ext cx="310896" cy="310896"/>
          </a:xfrm>
          <a:prstGeom prst="ellipse">
            <a:avLst/>
          </a:prstGeom>
          <a:solidFill>
            <a:srgbClr val="5B4B8A"/>
          </a:solidFill>
          <a:ln w="19050">
            <a:solidFill>
              <a:srgbClr val="FFFFFF"/>
            </a:solidFill>
            <a:prstDash val="solid"/>
          </a:ln>
        </p:spPr>
      </p:sp>
      <p:sp>
        <p:nvSpPr>
          <p:cNvPr id="16" name="Text 10"/>
          <p:cNvSpPr txBox="1"/>
          <p:nvPr/>
        </p:nvSpPr>
        <p:spPr>
          <a:xfrm>
            <a:off x="2651760" y="288078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Output frame 4"/>
          <p:cNvSpPr/>
          <p:nvPr/>
        </p:nvSpPr>
        <p:spPr>
          <a:xfrm>
            <a:off x="2980944" y="2972226"/>
            <a:ext cx="2359152" cy="1466297"/>
          </a:xfrm>
          <a:prstGeom prst="rect">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pic>
        <p:nvPicPr>
          <p:cNvPr id="18" name="Image 4" descr="Program output screenshot 4">    </p:cNvPr>
          <p:cNvPicPr>
            <a:picLocks noChangeAspect="1"/>
          </p:cNvPicPr>
          <p:nvPr/>
        </p:nvPicPr>
        <p:blipFill>
          <a:blip r:embed="rId6"/>
          <a:stretch>
            <a:fillRect/>
          </a:stretch>
        </p:blipFill>
        <p:spPr>
          <a:xfrm>
            <a:off x="3017520" y="3008802"/>
            <a:ext cx="2286000" cy="1393145"/>
          </a:xfrm>
          <a:prstGeom prst="rect">
            <a:avLst/>
          </a:prstGeom>
        </p:spPr>
      </p:pic>
      <p:sp>
        <p:nvSpPr>
          <p:cNvPr id="19" name="Badge 4"/>
          <p:cNvSpPr/>
          <p:nvPr/>
        </p:nvSpPr>
        <p:spPr>
          <a:xfrm>
            <a:off x="5120640" y="2880786"/>
            <a:ext cx="310896" cy="310896"/>
          </a:xfrm>
          <a:prstGeom prst="ellipse">
            <a:avLst/>
          </a:prstGeom>
          <a:solidFill>
            <a:srgbClr val="5B4B8A"/>
          </a:solidFill>
          <a:ln w="19050">
            <a:solidFill>
              <a:srgbClr val="FFFFFF"/>
            </a:solidFill>
            <a:prstDash val="solid"/>
          </a:ln>
        </p:spPr>
      </p:sp>
      <p:sp>
        <p:nvSpPr>
          <p:cNvPr id="20" name="Text 13"/>
          <p:cNvSpPr txBox="1"/>
          <p:nvPr/>
        </p:nvSpPr>
        <p:spPr>
          <a:xfrm>
            <a:off x="5120640" y="288078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Legend card"/>
          <p:cNvSpPr/>
          <p:nvPr/>
        </p:nvSpPr>
        <p:spPr>
          <a:xfrm>
            <a:off x="5669280" y="1188720"/>
            <a:ext cx="2926080" cy="3429000"/>
          </a:xfrm>
          <a:prstGeom prst="roundRect">
            <a:avLst>
              <a:gd name="adj" fmla="val 4688"/>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22" name="Text 15"/>
          <p:cNvSpPr txBox="1"/>
          <p:nvPr/>
        </p:nvSpPr>
        <p:spPr>
          <a:xfrm>
            <a:off x="5897880" y="1325880"/>
            <a:ext cx="2468880" cy="411480"/>
          </a:xfrm>
          <a:prstGeom prst="rect">
            <a:avLst/>
          </a:prstGeom>
          <a:noFill/>
          <a:ln/>
        </p:spPr>
        <p:txBody>
          <a:bodyPr wrap="square" lIns="0" tIns="0" rIns="0" bIns="0" rtlCol="0" anchor="ctr"/>
          <a:lstStyle/>
          <a:p>
            <a:pPr indent="0" marL="0">
              <a:buNone/>
            </a:pPr>
            <a:r>
              <a:rPr lang="en-US" sz="1800" b="1" dirty="0">
                <a:solidFill>
                  <a:srgbClr val="5B4B8A"/>
                </a:solidFill>
                <a:latin typeface="Cambria" pitchFamily="34" charset="0"/>
                <a:ea typeface="Cambria" pitchFamily="34" charset="-122"/>
                <a:cs typeface="Cambria" pitchFamily="34" charset="-120"/>
              </a:rPr>
              <a:t>Program run</a:t>
            </a:r>
            <a:endParaRPr lang="en-US" sz="1800" dirty="0"/>
          </a:p>
        </p:txBody>
      </p:sp>
      <p:sp>
        <p:nvSpPr>
          <p:cNvPr id="23" name="Shape 16"/>
          <p:cNvSpPr/>
          <p:nvPr/>
        </p:nvSpPr>
        <p:spPr>
          <a:xfrm>
            <a:off x="5897880" y="1947672"/>
            <a:ext cx="310896" cy="310896"/>
          </a:xfrm>
          <a:prstGeom prst="ellipse">
            <a:avLst/>
          </a:prstGeom>
          <a:solidFill>
            <a:srgbClr val="5B4B8A"/>
          </a:solidFill>
          <a:ln w="12700">
            <a:solidFill>
              <a:srgbClr val="5B4B8A"/>
            </a:solidFill>
            <a:prstDash val="solid"/>
          </a:ln>
        </p:spPr>
      </p:sp>
      <p:sp>
        <p:nvSpPr>
          <p:cNvPr id="24" name="Text 17"/>
          <p:cNvSpPr txBox="1"/>
          <p:nvPr/>
        </p:nvSpPr>
        <p:spPr>
          <a:xfrm>
            <a:off x="5897880" y="19476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5" name="Text 18"/>
          <p:cNvSpPr txBox="1"/>
          <p:nvPr/>
        </p:nvSpPr>
        <p:spPr>
          <a:xfrm>
            <a:off x="6355080" y="1874520"/>
            <a:ext cx="2057400" cy="457200"/>
          </a:xfrm>
          <a:prstGeom prst="rect">
            <a:avLst/>
          </a:prstGeom>
          <a:noFill/>
          <a:ln/>
        </p:spPr>
        <p:txBody>
          <a:bodyPr wrap="square" lIns="0" tIns="0" rIns="0" bIns="0" rtlCol="0" anchor="ctr"/>
          <a:lstStyle/>
          <a:p>
            <a:pPr indent="0" marL="0">
              <a:buNone/>
            </a:pPr>
            <a:r>
              <a:rPr lang="en-US" sz="1300" dirty="0">
                <a:solidFill>
                  <a:srgbClr val="2E2A45"/>
                </a:solidFill>
                <a:latin typeface="Calibri" pitchFamily="34" charset="0"/>
                <a:ea typeface="Calibri" pitchFamily="34" charset="-122"/>
                <a:cs typeface="Calibri" pitchFamily="34" charset="-120"/>
              </a:rPr>
              <a:t>Name, roll number, subject and Questions 1-3</a:t>
            </a:r>
            <a:endParaRPr lang="en-US" sz="1300" dirty="0"/>
          </a:p>
        </p:txBody>
      </p:sp>
      <p:sp>
        <p:nvSpPr>
          <p:cNvPr id="26" name="Shape 19"/>
          <p:cNvSpPr/>
          <p:nvPr/>
        </p:nvSpPr>
        <p:spPr>
          <a:xfrm>
            <a:off x="5897880" y="2606040"/>
            <a:ext cx="310896" cy="310896"/>
          </a:xfrm>
          <a:prstGeom prst="ellipse">
            <a:avLst/>
          </a:prstGeom>
          <a:solidFill>
            <a:srgbClr val="5B4B8A"/>
          </a:solidFill>
          <a:ln w="12700">
            <a:solidFill>
              <a:srgbClr val="5B4B8A"/>
            </a:solidFill>
            <a:prstDash val="solid"/>
          </a:ln>
        </p:spPr>
      </p:sp>
      <p:sp>
        <p:nvSpPr>
          <p:cNvPr id="27" name="Text 20"/>
          <p:cNvSpPr txBox="1"/>
          <p:nvPr/>
        </p:nvSpPr>
        <p:spPr>
          <a:xfrm>
            <a:off x="5897880" y="26060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Text 21"/>
          <p:cNvSpPr txBox="1"/>
          <p:nvPr/>
        </p:nvSpPr>
        <p:spPr>
          <a:xfrm>
            <a:off x="6355080" y="2532888"/>
            <a:ext cx="2057400" cy="457200"/>
          </a:xfrm>
          <a:prstGeom prst="rect">
            <a:avLst/>
          </a:prstGeom>
          <a:noFill/>
          <a:ln/>
        </p:spPr>
        <p:txBody>
          <a:bodyPr wrap="square" lIns="0" tIns="0" rIns="0" bIns="0" rtlCol="0" anchor="ctr"/>
          <a:lstStyle/>
          <a:p>
            <a:pPr indent="0" marL="0">
              <a:buNone/>
            </a:pPr>
            <a:r>
              <a:rPr lang="en-US" sz="1300" dirty="0">
                <a:solidFill>
                  <a:srgbClr val="2E2A45"/>
                </a:solidFill>
                <a:latin typeface="Calibri" pitchFamily="34" charset="0"/>
                <a:ea typeface="Calibri" pitchFamily="34" charset="-122"/>
                <a:cs typeface="Calibri" pitchFamily="34" charset="-120"/>
              </a:rPr>
              <a:t>Questions 3-7</a:t>
            </a:r>
            <a:endParaRPr lang="en-US" sz="1300" dirty="0"/>
          </a:p>
        </p:txBody>
      </p:sp>
      <p:sp>
        <p:nvSpPr>
          <p:cNvPr id="29" name="Shape 22"/>
          <p:cNvSpPr/>
          <p:nvPr/>
        </p:nvSpPr>
        <p:spPr>
          <a:xfrm>
            <a:off x="5897880" y="3264408"/>
            <a:ext cx="310896" cy="310896"/>
          </a:xfrm>
          <a:prstGeom prst="ellipse">
            <a:avLst/>
          </a:prstGeom>
          <a:solidFill>
            <a:srgbClr val="5B4B8A"/>
          </a:solidFill>
          <a:ln w="12700">
            <a:solidFill>
              <a:srgbClr val="5B4B8A"/>
            </a:solidFill>
            <a:prstDash val="solid"/>
          </a:ln>
        </p:spPr>
      </p:sp>
      <p:sp>
        <p:nvSpPr>
          <p:cNvPr id="30" name="Text 23"/>
          <p:cNvSpPr txBox="1"/>
          <p:nvPr/>
        </p:nvSpPr>
        <p:spPr>
          <a:xfrm>
            <a:off x="5897880" y="326440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1" name="Text 24"/>
          <p:cNvSpPr txBox="1"/>
          <p:nvPr/>
        </p:nvSpPr>
        <p:spPr>
          <a:xfrm>
            <a:off x="6355080" y="3191256"/>
            <a:ext cx="2057400" cy="457200"/>
          </a:xfrm>
          <a:prstGeom prst="rect">
            <a:avLst/>
          </a:prstGeom>
          <a:noFill/>
          <a:ln/>
        </p:spPr>
        <p:txBody>
          <a:bodyPr wrap="square" lIns="0" tIns="0" rIns="0" bIns="0" rtlCol="0" anchor="ctr"/>
          <a:lstStyle/>
          <a:p>
            <a:pPr indent="0" marL="0">
              <a:buNone/>
            </a:pPr>
            <a:r>
              <a:rPr lang="en-US" sz="1300" dirty="0">
                <a:solidFill>
                  <a:srgbClr val="2E2A45"/>
                </a:solidFill>
                <a:latin typeface="Calibri" pitchFamily="34" charset="0"/>
                <a:ea typeface="Calibri" pitchFamily="34" charset="-122"/>
                <a:cs typeface="Calibri" pitchFamily="34" charset="-120"/>
              </a:rPr>
              <a:t>Questions 3-7</a:t>
            </a:r>
            <a:endParaRPr lang="en-US" sz="1300" dirty="0"/>
          </a:p>
        </p:txBody>
      </p:sp>
      <p:sp>
        <p:nvSpPr>
          <p:cNvPr id="32" name="Shape 25"/>
          <p:cNvSpPr/>
          <p:nvPr/>
        </p:nvSpPr>
        <p:spPr>
          <a:xfrm>
            <a:off x="5897880" y="3922776"/>
            <a:ext cx="310896" cy="310896"/>
          </a:xfrm>
          <a:prstGeom prst="ellipse">
            <a:avLst/>
          </a:prstGeom>
          <a:solidFill>
            <a:srgbClr val="5B4B8A"/>
          </a:solidFill>
          <a:ln w="12700">
            <a:solidFill>
              <a:srgbClr val="5B4B8A"/>
            </a:solidFill>
            <a:prstDash val="solid"/>
          </a:ln>
        </p:spPr>
      </p:sp>
      <p:sp>
        <p:nvSpPr>
          <p:cNvPr id="33" name="Text 26"/>
          <p:cNvSpPr txBox="1"/>
          <p:nvPr/>
        </p:nvSpPr>
        <p:spPr>
          <a:xfrm>
            <a:off x="5897880" y="39227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4" name="Text 27"/>
          <p:cNvSpPr txBox="1"/>
          <p:nvPr/>
        </p:nvSpPr>
        <p:spPr>
          <a:xfrm>
            <a:off x="6355080" y="3849624"/>
            <a:ext cx="2057400" cy="457200"/>
          </a:xfrm>
          <a:prstGeom prst="rect">
            <a:avLst/>
          </a:prstGeom>
          <a:noFill/>
          <a:ln/>
        </p:spPr>
        <p:txBody>
          <a:bodyPr wrap="square" lIns="0" tIns="0" rIns="0" bIns="0" rtlCol="0" anchor="ctr"/>
          <a:lstStyle/>
          <a:p>
            <a:pPr indent="0" marL="0">
              <a:buNone/>
            </a:pPr>
            <a:r>
              <a:rPr lang="en-US" sz="1300" dirty="0">
                <a:solidFill>
                  <a:srgbClr val="2E2A45"/>
                </a:solidFill>
                <a:latin typeface="Calibri" pitchFamily="34" charset="0"/>
                <a:ea typeface="Calibri" pitchFamily="34" charset="-122"/>
                <a:cs typeface="Calibri" pitchFamily="34" charset="-120"/>
              </a:rPr>
              <a:t>Result, saved file and options</a:t>
            </a:r>
            <a:endParaRPr lang="en-US" sz="13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icon circle"/>
          <p:cNvSpPr/>
          <p:nvPr/>
        </p:nvSpPr>
        <p:spPr>
          <a:xfrm>
            <a:off x="548640" y="365760"/>
            <a:ext cx="640080" cy="640080"/>
          </a:xfrm>
          <a:prstGeom prst="ellipse">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con">    </p:cNvPr>
          <p:cNvPicPr>
            <a:picLocks noChangeAspect="1"/>
          </p:cNvPicPr>
          <p:nvPr/>
        </p:nvPicPr>
        <p:blipFill>
          <a:blip r:embed="rId2"/>
          <a:stretch>
            <a:fillRect/>
          </a:stretch>
        </p:blipFill>
        <p:spPr>
          <a:xfrm>
            <a:off x="713232" y="530352"/>
            <a:ext cx="310896" cy="310896"/>
          </a:xfrm>
          <a:prstGeom prst="rect">
            <a:avLst/>
          </a:prstGeom>
        </p:spPr>
      </p:pic>
      <p:sp>
        <p:nvSpPr>
          <p:cNvPr id="4" name="Text 1"/>
          <p:cNvSpPr txBox="1"/>
          <p:nvPr/>
        </p:nvSpPr>
        <p:spPr>
          <a:xfrm>
            <a:off x="1371600" y="320040"/>
            <a:ext cx="7223760" cy="731520"/>
          </a:xfrm>
          <a:prstGeom prst="rect">
            <a:avLst/>
          </a:prstGeom>
          <a:noFill/>
          <a:ln/>
        </p:spPr>
        <p:txBody>
          <a:bodyPr wrap="square" lIns="0" tIns="0" rIns="0" bIns="0" rtlCol="0" anchor="ctr"/>
          <a:lstStyle/>
          <a:p>
            <a:pPr indent="0" marL="0">
              <a:buNone/>
            </a:pPr>
            <a:r>
              <a:rPr lang="en-US" sz="3600" b="1" dirty="0">
                <a:solidFill>
                  <a:srgbClr val="5B4B8A"/>
                </a:solidFill>
                <a:latin typeface="Cambria" pitchFamily="34" charset="0"/>
                <a:ea typeface="Cambria" pitchFamily="34" charset="-122"/>
                <a:cs typeface="Cambria" pitchFamily="34" charset="-120"/>
              </a:rPr>
              <a:t>Geo Tag Photo and GitHub Link</a:t>
            </a:r>
            <a:endParaRPr lang="en-US" sz="3600" dirty="0"/>
          </a:p>
        </p:txBody>
      </p:sp>
      <p:sp>
        <p:nvSpPr>
          <p:cNvPr id="5" name="Geo tag photo card"/>
          <p:cNvSpPr/>
          <p:nvPr/>
        </p:nvSpPr>
        <p:spPr>
          <a:xfrm>
            <a:off x="548640" y="1280160"/>
            <a:ext cx="4754880" cy="3291840"/>
          </a:xfrm>
          <a:prstGeom prst="roundRect">
            <a:avLst>
              <a:gd name="adj" fmla="val 416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pic>
        <p:nvPicPr>
          <p:cNvPr id="6" name="Image 1" descr="Geo-tagged photo taken at Dollar Dreams, Bowrampet, Hyderabad">    </p:cNvPr>
          <p:cNvPicPr>
            <a:picLocks noChangeAspect="1"/>
          </p:cNvPicPr>
          <p:nvPr/>
        </p:nvPicPr>
        <p:blipFill>
          <a:blip r:embed="rId3"/>
          <a:stretch>
            <a:fillRect/>
          </a:stretch>
        </p:blipFill>
        <p:spPr>
          <a:xfrm>
            <a:off x="640080" y="1636776"/>
            <a:ext cx="4572000" cy="2571750"/>
          </a:xfrm>
          <a:prstGeom prst="rect">
            <a:avLst/>
          </a:prstGeom>
        </p:spPr>
      </p:pic>
      <p:sp>
        <p:nvSpPr>
          <p:cNvPr id="7" name="GitHub Link area"/>
          <p:cNvSpPr/>
          <p:nvPr/>
        </p:nvSpPr>
        <p:spPr>
          <a:xfrm>
            <a:off x="5486400" y="1280160"/>
            <a:ext cx="3108960" cy="3291840"/>
          </a:xfrm>
          <a:prstGeom prst="roundRect">
            <a:avLst>
              <a:gd name="adj" fmla="val 4412"/>
            </a:avLst>
          </a:prstGeom>
          <a:solidFill>
            <a:srgbClr val="FFFFFF"/>
          </a:solidFill>
          <a:ln w="19050">
            <a:solidFill>
              <a:srgbClr val="8E7CC3"/>
            </a:solidFill>
            <a:prstDash val="dash"/>
          </a:ln>
          <a:effectLst>
            <a:outerShdw sx="100000" sy="100000" kx="0" ky="0" algn="bl" rotWithShape="0" blurRad="127000" dist="38100" dir="5400000">
              <a:srgbClr val="5B4B8A">
                <a:alpha val="14000"/>
              </a:srgbClr>
            </a:outerShdw>
          </a:effectLst>
        </p:spPr>
      </p:sp>
      <p:sp>
        <p:nvSpPr>
          <p:cNvPr id="8" name="Shape 4"/>
          <p:cNvSpPr/>
          <p:nvPr/>
        </p:nvSpPr>
        <p:spPr>
          <a:xfrm>
            <a:off x="6675120" y="1645920"/>
            <a:ext cx="731520" cy="731520"/>
          </a:xfrm>
          <a:prstGeom prst="ellipse">
            <a:avLst/>
          </a:prstGeom>
          <a:solidFill>
            <a:srgbClr val="5B4B8A"/>
          </a:solidFill>
          <a:ln w="12700">
            <a:solidFill>
              <a:srgbClr val="5B4B8A"/>
            </a:solidFill>
            <a:prstDash val="solid"/>
          </a:ln>
        </p:spPr>
      </p:sp>
      <p:pic>
        <p:nvPicPr>
          <p:cNvPr id="9" name="Image 2" descr="GitHub">    </p:cNvPr>
          <p:cNvPicPr>
            <a:picLocks noChangeAspect="1"/>
          </p:cNvPicPr>
          <p:nvPr/>
        </p:nvPicPr>
        <p:blipFill>
          <a:blip r:embed="rId4"/>
          <a:stretch>
            <a:fillRect/>
          </a:stretch>
        </p:blipFill>
        <p:spPr>
          <a:xfrm>
            <a:off x="6858000" y="1828800"/>
            <a:ext cx="365760" cy="365760"/>
          </a:xfrm>
          <a:prstGeom prst="rect">
            <a:avLst/>
          </a:prstGeom>
        </p:spPr>
      </p:pic>
      <p:sp>
        <p:nvSpPr>
          <p:cNvPr id="10" name="Text 5"/>
          <p:cNvSpPr txBox="1"/>
          <p:nvPr/>
        </p:nvSpPr>
        <p:spPr>
          <a:xfrm>
            <a:off x="5486400" y="2560320"/>
            <a:ext cx="3108960" cy="457200"/>
          </a:xfrm>
          <a:prstGeom prst="rect">
            <a:avLst/>
          </a:prstGeom>
          <a:noFill/>
          <a:ln/>
        </p:spPr>
        <p:txBody>
          <a:bodyPr wrap="square" lIns="0" tIns="0" rIns="0" bIns="0" rtlCol="0" anchor="ctr"/>
          <a:lstStyle/>
          <a:p>
            <a:pPr algn="ctr" indent="0" marL="0">
              <a:buNone/>
            </a:pPr>
            <a:r>
              <a:rPr lang="en-US" sz="2000" b="1" dirty="0">
                <a:solidFill>
                  <a:srgbClr val="5B4B8A"/>
                </a:solidFill>
                <a:latin typeface="Cambria" pitchFamily="34" charset="0"/>
                <a:ea typeface="Cambria" pitchFamily="34" charset="-122"/>
                <a:cs typeface="Cambria" pitchFamily="34" charset="-120"/>
              </a:rPr>
              <a:t>GitHub Link</a:t>
            </a:r>
            <a:endParaRPr lang="en-US" sz="2000" dirty="0"/>
          </a:p>
        </p:txBody>
      </p:sp>
      <p:sp>
        <p:nvSpPr>
          <p:cNvPr id="11" name="GitHub URL">
            <a:hlinkClick r:id="rId5" tooltip="Open GitHub profile"/>
          </p:cNvPr>
          <p:cNvSpPr txBox="1"/>
          <p:nvPr/>
        </p:nvSpPr>
        <p:spPr>
          <a:xfrm>
            <a:off x="5577840" y="3108960"/>
            <a:ext cx="2926080" cy="457200"/>
          </a:xfrm>
          <a:prstGeom prst="rect">
            <a:avLst/>
          </a:prstGeom>
          <a:noFill/>
          <a:ln/>
        </p:spPr>
        <p:txBody>
          <a:bodyPr wrap="square" lIns="0" tIns="0" rIns="0" bIns="0" rtlCol="0" anchor="ctr"/>
          <a:lstStyle/>
          <a:p>
            <a:pPr algn="ctr" indent="0" marL="0">
              <a:buNone/>
            </a:pPr>
            <a:r>
              <a:rPr lang="en-US" sz="1400" u="sng" dirty="0">
                <a:solidFill>
                  <a:srgbClr val="5B4B8A"/>
                </a:solidFill>
                <a:latin typeface="Calibri" pitchFamily="34" charset="0"/>
                <a:ea typeface="Calibri" pitchFamily="34" charset="-122"/>
                <a:cs typeface="Calibri" pitchFamily="34" charset="-120"/>
                <a:hlinkClick r:id="rId5" invalidUrl="" action="" tgtFrame="" tooltip="Open GitHub profile" history="1" highlightClick="0" endSnd="0">
                  <a:extLst>
                    <a:ext uri="{A12FA001-AC4F-418D-AE19-62706E023703}">
                      <ahyp:hlinkClr xmlns:ahyp="http://schemas.microsoft.com/office/drawing/2018/hyperlinkcolor" val="tx"/>
                    </a:ext>
                  </a:extLst>
                </a:hlinkClick>
              </a:rPr>
              <a:t>https://github.com/Akshitha1249</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Lavender Classic">
  <a:themeElements>
    <a:clrScheme name="Lavender Classic">
      <a:dk1>
        <a:srgbClr val="2E2A45"/>
      </a:dk1>
      <a:lt1>
        <a:srgbClr val="FFFFFF"/>
      </a:lt1>
      <a:dk2>
        <a:srgbClr val="5B4B8A"/>
      </a:dk2>
      <a:lt2>
        <a:srgbClr val="F5F2FB"/>
      </a:lt2>
      <a:accent1>
        <a:srgbClr val="7E6BB0"/>
      </a:accent1>
      <a:accent2>
        <a:srgbClr val="A99BD1"/>
      </a:accent2>
      <a:accent3>
        <a:srgbClr val="C9BFE3"/>
      </a:accent3>
      <a:accent4>
        <a:srgbClr val="DDD6EE"/>
      </a:accent4>
      <a:accent5>
        <a:srgbClr val="E8E2F5"/>
      </a:accent5>
      <a:accent6>
        <a:srgbClr val="6E6889"/>
      </a:accent6>
      <a:hlink>
        <a:srgbClr val="5B4B8A"/>
      </a:hlink>
      <a:folHlink>
        <a:srgbClr val="6E6889"/>
      </a:folHlink>
    </a:clrScheme>
    <a:fontScheme name="Lavender Class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Quiz and Exam Engine</dc:title>
  <dc:subject>PptxGenJS Presentation</dc:subject>
  <dc:creator>PptxGenJS</dc:creator>
  <cp:lastModifiedBy>PptxGenJS</cp:lastModifiedBy>
  <cp:revision>1</cp:revision>
  <dcterms:created xsi:type="dcterms:W3CDTF">2026-10-16T06:09:19Z</dcterms:created>
  <dcterms:modified xsi:type="dcterms:W3CDTF">2026-10-16T06:09:19Z</dcterms:modified>
</cp:coreProperties>
</file>